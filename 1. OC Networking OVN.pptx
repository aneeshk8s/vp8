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7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793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2ED5155-8AF4-4AB0-908A-F113B246280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4033800" y="857160"/>
            <a:ext cx="4109760" cy="231264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1217520" y="3300480"/>
            <a:ext cx="9742320" cy="26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38"/>
          </p:nvPr>
        </p:nvSpPr>
        <p:spPr>
          <a:xfrm>
            <a:off x="6899400" y="6513480"/>
            <a:ext cx="527508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FA9F67F-C03E-4EBC-A9B4-F4F97F1CF14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4033800" y="857160"/>
            <a:ext cx="4109760" cy="231264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1217520" y="3300480"/>
            <a:ext cx="9742320" cy="26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39"/>
          </p:nvPr>
        </p:nvSpPr>
        <p:spPr>
          <a:xfrm>
            <a:off x="6899400" y="6513480"/>
            <a:ext cx="527508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C0EB17D-1754-44F9-BE84-C38E4F84E83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4033800" y="857160"/>
            <a:ext cx="4109760" cy="231264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1217520" y="3300480"/>
            <a:ext cx="9742320" cy="26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40"/>
          </p:nvPr>
        </p:nvSpPr>
        <p:spPr>
          <a:xfrm>
            <a:off x="6899400" y="6513480"/>
            <a:ext cx="527508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365CDE6-3072-4D7F-A799-AE0A4A089AF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4033800" y="857160"/>
            <a:ext cx="4109760" cy="231264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1217520" y="3300480"/>
            <a:ext cx="9742320" cy="26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41"/>
          </p:nvPr>
        </p:nvSpPr>
        <p:spPr>
          <a:xfrm>
            <a:off x="6899400" y="6513480"/>
            <a:ext cx="527508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5BF529C-C50D-43F2-8B1B-79F09F79DF8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4033800" y="857160"/>
            <a:ext cx="4109760" cy="231264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1217520" y="3300480"/>
            <a:ext cx="9742320" cy="26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42"/>
          </p:nvPr>
        </p:nvSpPr>
        <p:spPr>
          <a:xfrm>
            <a:off x="6899400" y="6513480"/>
            <a:ext cx="527508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A77C63F-8B39-449E-98D8-45D6FE359D4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 object 16"/>
          <p:cNvPicPr/>
          <p:nvPr/>
        </p:nvPicPr>
        <p:blipFill>
          <a:blip r:embed="rId2"/>
          <a:stretch/>
        </p:blipFill>
        <p:spPr>
          <a:xfrm>
            <a:off x="0" y="0"/>
            <a:ext cx="12177360" cy="685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3440" y="2697480"/>
            <a:ext cx="651780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4141080" y="6378120"/>
            <a:ext cx="3895560" cy="34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2"/>
          </p:nvPr>
        </p:nvSpPr>
        <p:spPr>
          <a:xfrm>
            <a:off x="5427360" y="6472080"/>
            <a:ext cx="1141920" cy="37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4120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defRPr>
            </a:lvl1pPr>
          </a:lstStyle>
          <a:p>
            <a:pPr marL="241200" indent="0" algn="l">
              <a:lnSpc>
                <a:spcPts val="1644"/>
              </a:lnSpc>
              <a:buNone/>
              <a:tabLst>
                <a:tab pos="0" algn="l"/>
              </a:tabLst>
            </a:pPr>
            <a:r>
              <a:rPr lang="en-U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11634120" y="6487560"/>
            <a:ext cx="295560" cy="22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4724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51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47240" indent="0" algn="l">
              <a:lnSpc>
                <a:spcPts val="1644"/>
              </a:lnSpc>
              <a:buNone/>
              <a:tabLst>
                <a:tab pos="0" algn="l"/>
              </a:tabLst>
            </a:pPr>
            <a:fld id="{61DD98A0-A2D3-4E8A-B06D-9ED59A85C47B}" type="slidenum"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 object 16"/>
          <p:cNvSpPr/>
          <p:nvPr/>
        </p:nvSpPr>
        <p:spPr>
          <a:xfrm>
            <a:off x="0" y="5795280"/>
            <a:ext cx="12177360" cy="1061280"/>
          </a:xfrm>
          <a:custGeom>
            <a:avLst/>
            <a:gdLst>
              <a:gd name="textAreaLeft" fmla="*/ 0 w 12177360"/>
              <a:gd name="textAreaRight" fmla="*/ 12179160 w 12177360"/>
              <a:gd name="textAreaTop" fmla="*/ 0 h 1061280"/>
              <a:gd name="textAreaBottom" fmla="*/ 1063080 h 1061280"/>
            </a:gdLst>
            <a:ahLst/>
            <a:cxnLst/>
            <a:rect l="textAreaLeft" t="textAreaTop" r="textAreaRight" b="textAreaBottom"/>
            <a:pathLst>
              <a:path w="12179300" h="1062990">
                <a:moveTo>
                  <a:pt x="0" y="0"/>
                </a:moveTo>
                <a:lnTo>
                  <a:pt x="12179299" y="0"/>
                </a:lnTo>
                <a:lnTo>
                  <a:pt x="12179299" y="1062720"/>
                </a:lnTo>
                <a:lnTo>
                  <a:pt x="0" y="1062720"/>
                </a:lnTo>
                <a:lnTo>
                  <a:pt x="0" y="0"/>
                </a:lnTo>
                <a:close/>
              </a:path>
            </a:pathLst>
          </a:custGeom>
          <a:solidFill>
            <a:srgbClr val="8E83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" name="bg object 17"/>
          <p:cNvPicPr/>
          <p:nvPr/>
        </p:nvPicPr>
        <p:blipFill>
          <a:blip r:embed="rId2"/>
          <a:stretch/>
        </p:blipFill>
        <p:spPr>
          <a:xfrm>
            <a:off x="10652760" y="6001920"/>
            <a:ext cx="735120" cy="76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45280" y="416880"/>
            <a:ext cx="1095120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98840" y="1584000"/>
            <a:ext cx="10898640" cy="407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ftr" idx="4"/>
          </p:nvPr>
        </p:nvSpPr>
        <p:spPr>
          <a:xfrm>
            <a:off x="4141080" y="6378120"/>
            <a:ext cx="3895560" cy="34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5"/>
          </p:nvPr>
        </p:nvSpPr>
        <p:spPr>
          <a:xfrm>
            <a:off x="5427360" y="6472080"/>
            <a:ext cx="1141920" cy="37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4120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defRPr>
            </a:lvl1pPr>
          </a:lstStyle>
          <a:p>
            <a:pPr marL="241200" indent="0" algn="l">
              <a:lnSpc>
                <a:spcPts val="1644"/>
              </a:lnSpc>
              <a:buNone/>
              <a:tabLst>
                <a:tab pos="0" algn="l"/>
              </a:tabLst>
            </a:pPr>
            <a:r>
              <a:rPr lang="en-U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11634120" y="6487560"/>
            <a:ext cx="295560" cy="22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4724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51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47240" indent="0" algn="l">
              <a:lnSpc>
                <a:spcPts val="1644"/>
              </a:lnSpc>
              <a:buNone/>
              <a:tabLst>
                <a:tab pos="0" algn="l"/>
              </a:tabLst>
            </a:pPr>
            <a:fld id="{4B164E1D-C2AB-478B-BEB5-5387E4007771}" type="slidenum"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45280" y="416880"/>
            <a:ext cx="1095120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120" y="1577520"/>
            <a:ext cx="5296320" cy="23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72280" y="1577520"/>
            <a:ext cx="5296320" cy="23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7"/>
          </p:nvPr>
        </p:nvSpPr>
        <p:spPr>
          <a:xfrm>
            <a:off x="4141080" y="6378120"/>
            <a:ext cx="3895560" cy="34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dt" idx="8"/>
          </p:nvPr>
        </p:nvSpPr>
        <p:spPr>
          <a:xfrm>
            <a:off x="5427360" y="6472080"/>
            <a:ext cx="1141920" cy="37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4120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defRPr>
            </a:lvl1pPr>
          </a:lstStyle>
          <a:p>
            <a:pPr marL="241200" indent="0" algn="l">
              <a:lnSpc>
                <a:spcPts val="1644"/>
              </a:lnSpc>
              <a:buNone/>
              <a:tabLst>
                <a:tab pos="0" algn="l"/>
              </a:tabLst>
            </a:pPr>
            <a:r>
              <a:rPr lang="en-U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sldNum" idx="9"/>
          </p:nvPr>
        </p:nvSpPr>
        <p:spPr>
          <a:xfrm>
            <a:off x="11634120" y="6487560"/>
            <a:ext cx="295560" cy="22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4724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51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47240" indent="0" algn="l">
              <a:lnSpc>
                <a:spcPts val="1644"/>
              </a:lnSpc>
              <a:buNone/>
              <a:tabLst>
                <a:tab pos="0" algn="l"/>
              </a:tabLst>
            </a:pPr>
            <a:fld id="{E49BF248-DAED-453E-8BB9-38809FDBCE3D}" type="slidenum"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g object 16"/>
          <p:cNvPicPr/>
          <p:nvPr/>
        </p:nvPicPr>
        <p:blipFill>
          <a:blip r:embed="rId2"/>
          <a:stretch/>
        </p:blipFill>
        <p:spPr>
          <a:xfrm>
            <a:off x="0" y="0"/>
            <a:ext cx="12177360" cy="685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45280" y="416880"/>
            <a:ext cx="1095120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ftr" idx="10"/>
          </p:nvPr>
        </p:nvSpPr>
        <p:spPr>
          <a:xfrm>
            <a:off x="4141080" y="6378120"/>
            <a:ext cx="3895560" cy="34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1"/>
          </p:nvPr>
        </p:nvSpPr>
        <p:spPr>
          <a:xfrm>
            <a:off x="5427360" y="6472080"/>
            <a:ext cx="1141920" cy="37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4120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defRPr>
            </a:lvl1pPr>
          </a:lstStyle>
          <a:p>
            <a:pPr marL="241200" indent="0" algn="l">
              <a:lnSpc>
                <a:spcPts val="1644"/>
              </a:lnSpc>
              <a:buNone/>
              <a:tabLst>
                <a:tab pos="0" algn="l"/>
              </a:tabLst>
            </a:pPr>
            <a:r>
              <a:rPr lang="en-U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11634120" y="6487560"/>
            <a:ext cx="295560" cy="22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4724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51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47240" indent="0" algn="l">
              <a:lnSpc>
                <a:spcPts val="1644"/>
              </a:lnSpc>
              <a:buNone/>
              <a:tabLst>
                <a:tab pos="0" algn="l"/>
              </a:tabLst>
            </a:pPr>
            <a:fld id="{1FB787EF-B0CA-4EA4-8E1C-FFD52A8E99B5}" type="slidenum"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ftr" idx="13"/>
          </p:nvPr>
        </p:nvSpPr>
        <p:spPr>
          <a:xfrm>
            <a:off x="4141080" y="6378120"/>
            <a:ext cx="3895560" cy="34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dt" idx="14"/>
          </p:nvPr>
        </p:nvSpPr>
        <p:spPr>
          <a:xfrm>
            <a:off x="5427360" y="6472080"/>
            <a:ext cx="1141920" cy="37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4120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defRPr>
            </a:lvl1pPr>
          </a:lstStyle>
          <a:p>
            <a:pPr marL="241200" indent="0" algn="l">
              <a:lnSpc>
                <a:spcPts val="1644"/>
              </a:lnSpc>
              <a:buNone/>
              <a:tabLst>
                <a:tab pos="0" algn="l"/>
              </a:tabLst>
            </a:pPr>
            <a:r>
              <a:rPr lang="en-U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5"/>
          </p:nvPr>
        </p:nvSpPr>
        <p:spPr>
          <a:xfrm>
            <a:off x="11634120" y="6487560"/>
            <a:ext cx="295560" cy="22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4724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51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47240" indent="0" algn="l">
              <a:lnSpc>
                <a:spcPts val="1644"/>
              </a:lnSpc>
              <a:buNone/>
              <a:tabLst>
                <a:tab pos="0" algn="l"/>
              </a:tabLst>
            </a:pPr>
            <a:fld id="{BF855800-BAB6-4F8A-9E21-EAB9293EEF43}" type="slidenum"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title"/>
          </p:nvPr>
        </p:nvSpPr>
        <p:spPr>
          <a:xfrm>
            <a:off x="608760" y="273600"/>
            <a:ext cx="10959120" cy="11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5912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8760" y="273600"/>
            <a:ext cx="10959120" cy="11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5912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kubernetes.io/docs/concepts/cluster-administration/networking/#how-to-implement-the-kubernetes-network-model" TargetMode="External"/><Relationship Id="rId2" Type="http://schemas.openxmlformats.org/officeDocument/2006/relationships/hyperlink" Target="https://kubernetes.io/docs/concepts/cluster-administration/networking/#how-to-implement-the-kubernetes-network-model" TargetMode="External"/><Relationship Id="rId3" Type="http://schemas.openxmlformats.org/officeDocument/2006/relationships/hyperlink" Target="https://kubernetes.io/docs/concepts/cluster-administration/networking/#how-to-implement-the-kubernetes-network-model" TargetMode="External"/><Relationship Id="rId4" Type="http://schemas.openxmlformats.org/officeDocument/2006/relationships/hyperlink" Target="https://kubernetes.io/docs/concepts/cluster-administration/networking/#how-to-implement-the-kubernetes-network-model" TargetMode="External"/><Relationship Id="rId5" Type="http://schemas.openxmlformats.org/officeDocument/2006/relationships/hyperlink" Target="https://kubernetes.io/docs/concepts/cluster-administration/networking/#how-to-implement-the-kubernetes-network-model" TargetMode="External"/><Relationship Id="rId6" Type="http://schemas.openxmlformats.org/officeDocument/2006/relationships/hyperlink" Target="https://github.com/containernetworking/cni/blob/main/SPEC.md" TargetMode="External"/><Relationship Id="rId7" Type="http://schemas.openxmlformats.org/officeDocument/2006/relationships/hyperlink" Target="https://github.com/containernetworking/cni#3rd-party-plugins" TargetMode="External"/><Relationship Id="rId8" Type="http://schemas.openxmlformats.org/officeDocument/2006/relationships/image" Target="../media/image4.png"/><Relationship Id="rId9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jpeg"/><Relationship Id="rId3" Type="http://schemas.openxmlformats.org/officeDocument/2006/relationships/hyperlink" Target="https://cloud.redhat.com/blog/demystifying-multus" TargetMode="External"/><Relationship Id="rId4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hyperlink" Target="https://access.redhat.com/articles/5436171" TargetMode="External"/><Relationship Id="rId3" Type="http://schemas.openxmlformats.org/officeDocument/2006/relationships/hyperlink" Target="https://access.redhat.com/articles/5436171" TargetMode="External"/><Relationship Id="rId4" Type="http://schemas.openxmlformats.org/officeDocument/2006/relationships/hyperlink" Target="https://access.redhat.com/articles/5436171" TargetMode="External"/><Relationship Id="rId5" Type="http://schemas.openxmlformats.org/officeDocument/2006/relationships/hyperlink" Target="https://access.redhat.com/articles/5436171" TargetMode="External"/><Relationship Id="rId6" Type="http://schemas.openxmlformats.org/officeDocument/2006/relationships/hyperlink" Target="https://access.redhat.com/articles/5436171" TargetMode="External"/><Relationship Id="rId7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hyperlink" Target="https://github.com/ovn-org/ovn-kubernetes" TargetMode="External"/><Relationship Id="rId3" Type="http://schemas.openxmlformats.org/officeDocument/2006/relationships/hyperlink" Target="https://www.ovn.org/support/dist-docs/ovn-architecture.7.html" TargetMode="External"/><Relationship Id="rId4" Type="http://schemas.openxmlformats.org/officeDocument/2006/relationships/hyperlink" Target="https://www.openvswitch.org/" TargetMode="External"/><Relationship Id="rId5" Type="http://schemas.openxmlformats.org/officeDocument/2006/relationships/hyperlink" Target="https://datatracker.ietf.org/doc/rfc8926/" TargetMode="External"/><Relationship Id="rId6" Type="http://schemas.openxmlformats.org/officeDocument/2006/relationships/image" Target="../media/image7.jpeg"/><Relationship Id="rId7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14" descr="Blue Powerpoint Images – Browse 140,337 Stock Photos, Vectors, and Video |  Adobe Stock"/>
          <p:cNvPicPr/>
          <p:nvPr/>
        </p:nvPicPr>
        <p:blipFill>
          <a:blip r:embed="rId1"/>
          <a:stretch/>
        </p:blipFill>
        <p:spPr>
          <a:xfrm>
            <a:off x="-11520" y="0"/>
            <a:ext cx="12159360" cy="686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object 5"/>
          <p:cNvSpPr/>
          <p:nvPr/>
        </p:nvSpPr>
        <p:spPr>
          <a:xfrm>
            <a:off x="247680" y="3504600"/>
            <a:ext cx="5964840" cy="7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5000" b="1" u="none" spc="-255" strike="noStrike">
                <a:solidFill>
                  <a:srgbClr val="FFFFFF"/>
                </a:solidFill>
                <a:effectLst/>
                <a:uFillTx/>
                <a:latin typeface="Verdana"/>
              </a:rPr>
              <a:t>OVN-</a:t>
            </a:r>
            <a:r>
              <a:rPr lang="en-US" sz="5000" b="1" u="none" spc="-264" strike="noStrike">
                <a:solidFill>
                  <a:srgbClr val="FFFFFF"/>
                </a:solidFill>
                <a:effectLst/>
                <a:uFillTx/>
                <a:latin typeface="Verdana"/>
              </a:rPr>
              <a:t>Kubernetes</a:t>
            </a:r>
            <a:r>
              <a:rPr lang="en-US" sz="5000" b="1" u="none" spc="-289" strike="noStrike">
                <a:solidFill>
                  <a:srgbClr val="FFFFFF"/>
                </a:solidFill>
                <a:effectLst/>
                <a:uFillTx/>
                <a:latin typeface="Verdana"/>
              </a:rPr>
              <a:t> 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sldNum" idx="19"/>
          </p:nvPr>
        </p:nvSpPr>
        <p:spPr>
          <a:xfrm>
            <a:off x="11634120" y="6487560"/>
            <a:ext cx="295560" cy="22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4724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51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47240" indent="0" algn="l">
              <a:lnSpc>
                <a:spcPts val="1644"/>
              </a:lnSpc>
              <a:buNone/>
              <a:tabLst>
                <a:tab pos="0" algn="l"/>
              </a:tabLst>
            </a:pPr>
            <a:fld id="{D02DA5AC-728C-4818-948E-2196EBE1CC7B}" type="slidenum"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object 6"/>
          <p:cNvSpPr/>
          <p:nvPr/>
        </p:nvSpPr>
        <p:spPr>
          <a:xfrm>
            <a:off x="227160" y="4438800"/>
            <a:ext cx="598572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The</a:t>
            </a:r>
            <a:r>
              <a:rPr lang="en-US" sz="2800" b="0" u="none" spc="-145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 </a:t>
            </a:r>
            <a:r>
              <a:rPr lang="en-US" sz="2800" b="0" u="none" spc="170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new</a:t>
            </a:r>
            <a:r>
              <a:rPr lang="en-US" sz="2800" b="0" u="none" spc="-139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 </a:t>
            </a:r>
            <a:r>
              <a:rPr lang="en-US" sz="2800" b="0" u="none" spc="54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default</a:t>
            </a:r>
            <a:r>
              <a:rPr lang="en-US" sz="2800" b="0" u="none" spc="-139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 </a:t>
            </a:r>
            <a:r>
              <a:rPr lang="en-US" sz="2800" b="0" u="none" spc="96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CNI</a:t>
            </a:r>
            <a:r>
              <a:rPr lang="en-US" sz="2800" b="0" u="none" spc="-145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 </a:t>
            </a: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of</a:t>
            </a:r>
            <a:r>
              <a:rPr lang="en-US" sz="2800" b="0" u="none" spc="-139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 </a:t>
            </a:r>
            <a:r>
              <a:rPr lang="en-US" sz="2800" b="0" u="none" spc="74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OpenShift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object 7"/>
          <p:cNvSpPr/>
          <p:nvPr/>
        </p:nvSpPr>
        <p:spPr>
          <a:xfrm>
            <a:off x="242640" y="5602680"/>
            <a:ext cx="271404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9200" rIns="0" bIns="0" anchor="t">
            <a:spAutoFit/>
          </a:bodyPr>
          <a:p>
            <a:pPr marL="12600">
              <a:lnSpc>
                <a:spcPct val="100000"/>
              </a:lnSpc>
              <a:spcBef>
                <a:spcPts val="624"/>
              </a:spcBef>
            </a:pPr>
            <a:r>
              <a:rPr lang="en-US" sz="1450" b="0" u="none" spc="74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OKD-OpenShift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AutoShape 8" descr="Business Cube PPT Backgrounds"/>
          <p:cNvSpPr/>
          <p:nvPr/>
        </p:nvSpPr>
        <p:spPr>
          <a:xfrm>
            <a:off x="0" y="3240"/>
            <a:ext cx="12177360" cy="68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AutoShape 10" descr="Business Cube PPT Backgrounds"/>
          <p:cNvSpPr/>
          <p:nvPr/>
        </p:nvSpPr>
        <p:spPr>
          <a:xfrm>
            <a:off x="152280" y="155520"/>
            <a:ext cx="12177360" cy="68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object 6"/>
          <p:cNvSpPr/>
          <p:nvPr/>
        </p:nvSpPr>
        <p:spPr>
          <a:xfrm>
            <a:off x="1441440" y="2951640"/>
            <a:ext cx="598572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800" b="0" u="none" spc="74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OpenShift Network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8"/>
          <p:cNvPicPr/>
          <p:nvPr/>
        </p:nvPicPr>
        <p:blipFill>
          <a:blip r:embed="rId1"/>
          <a:stretch/>
        </p:blipFill>
        <p:spPr>
          <a:xfrm rot="16200000">
            <a:off x="5727240" y="444960"/>
            <a:ext cx="719640" cy="1217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sldNum" idx="20"/>
          </p:nvPr>
        </p:nvSpPr>
        <p:spPr>
          <a:xfrm>
            <a:off x="11634120" y="6487560"/>
            <a:ext cx="295560" cy="22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4724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51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47240" indent="0" algn="l">
              <a:lnSpc>
                <a:spcPts val="1644"/>
              </a:lnSpc>
              <a:buNone/>
              <a:tabLst>
                <a:tab pos="0" algn="l"/>
              </a:tabLst>
            </a:pPr>
            <a:fld id="{01E811D4-172E-495E-8360-A07B2E4071A7}" type="slidenum"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603360" y="609480"/>
            <a:ext cx="1849320" cy="111168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3600" b="0" u="none" spc="125" strike="noStrike">
                <a:solidFill>
                  <a:schemeClr val="dk2"/>
                </a:solidFill>
                <a:effectLst/>
                <a:uFillTx/>
                <a:latin typeface="Verdana"/>
              </a:rPr>
              <a:t>Agenda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" name="object 3"/>
          <p:cNvSpPr/>
          <p:nvPr/>
        </p:nvSpPr>
        <p:spPr>
          <a:xfrm>
            <a:off x="873720" y="1311840"/>
            <a:ext cx="9471240" cy="34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>
              <a:lnSpc>
                <a:spcPct val="100000"/>
              </a:lnSpc>
              <a:spcBef>
                <a:spcPts val="794"/>
              </a:spcBef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0640" indent="-428040">
              <a:lnSpc>
                <a:spcPct val="100000"/>
              </a:lnSpc>
              <a:buClr>
                <a:srgbClr val="000000"/>
              </a:buClr>
              <a:buFont typeface="MS PGothic"/>
              <a:buChar char="➔"/>
              <a:tabLst>
                <a:tab pos="44064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Kubernetes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&amp;</a:t>
            </a: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OpenShift</a:t>
            </a: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Networking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31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-</a:t>
            </a: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At</a:t>
            </a: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a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4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Glance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0640" indent="-428040">
              <a:lnSpc>
                <a:spcPct val="100000"/>
              </a:lnSpc>
              <a:spcBef>
                <a:spcPts val="1959"/>
              </a:spcBef>
              <a:buClr>
                <a:srgbClr val="000000"/>
              </a:buClr>
              <a:buFont typeface="MS PGothic"/>
              <a:buChar char="➔"/>
              <a:tabLst>
                <a:tab pos="440640" algn="l"/>
              </a:tabLst>
            </a:pPr>
            <a:r>
              <a:rPr lang="en-US" sz="1600" b="0" u="heavy" spc="139" strike="noStrike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Lucida Sans Unicode"/>
              </a:rPr>
              <a:t>What</a:t>
            </a: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4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is</a:t>
            </a: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OVN</a:t>
            </a: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(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O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pen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V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irtual</a:t>
            </a: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N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etworking)-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Kubernetes?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0640" indent="-428040">
              <a:lnSpc>
                <a:spcPct val="100000"/>
              </a:lnSpc>
              <a:spcBef>
                <a:spcPts val="1959"/>
              </a:spcBef>
              <a:buClr>
                <a:srgbClr val="000000"/>
              </a:buClr>
              <a:buFont typeface="MS PGothic"/>
              <a:buChar char="➔"/>
              <a:tabLst>
                <a:tab pos="440640" algn="l"/>
              </a:tabLst>
            </a:pPr>
            <a:r>
              <a:rPr lang="en-US" sz="1600" b="0" u="heavy" spc="164" strike="noStrike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Lucida Sans Unicode"/>
              </a:rPr>
              <a:t>Why</a:t>
            </a:r>
            <a:r>
              <a:rPr lang="en-US" sz="1600" b="0" u="none" spc="-3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did</a:t>
            </a:r>
            <a:r>
              <a:rPr lang="en-US" sz="1600" b="0" u="none" spc="-3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99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we</a:t>
            </a:r>
            <a:r>
              <a:rPr lang="en-US" sz="1600" b="0" u="none" spc="-3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move</a:t>
            </a:r>
            <a:r>
              <a:rPr lang="en-US" sz="1600" b="0" u="none" spc="-3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to</a:t>
            </a:r>
            <a:r>
              <a:rPr lang="en-US" sz="1600" b="0" u="none" spc="-2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using</a:t>
            </a:r>
            <a:r>
              <a:rPr lang="en-US" sz="1600" b="0" u="none" spc="-3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OVN-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Kubernetes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97840" lvl="1" indent="-349920">
              <a:lnSpc>
                <a:spcPct val="100000"/>
              </a:lnSpc>
              <a:spcBef>
                <a:spcPts val="961"/>
              </a:spcBef>
              <a:buClr>
                <a:srgbClr val="000000"/>
              </a:buClr>
              <a:buFont typeface="OpenSymbol"/>
              <a:buChar char="◆"/>
              <a:tabLst>
                <a:tab pos="89784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Differences</a:t>
            </a:r>
            <a:r>
              <a:rPr lang="en-US" sz="1600" b="0" u="none" spc="6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79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between</a:t>
            </a: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OVN-Kubernetes</a:t>
            </a:r>
            <a:r>
              <a:rPr lang="en-US" sz="1600" b="0" u="none" spc="6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and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OpenShift-</a:t>
            </a:r>
            <a:r>
              <a:rPr lang="en-US" sz="1600" b="0" u="none" spc="10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SDN</a:t>
            </a:r>
            <a:r>
              <a:rPr lang="en-US" sz="1600" b="0" u="none" spc="6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(</a:t>
            </a: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Verdana"/>
              </a:rPr>
              <a:t>S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oftware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98560">
              <a:lnSpc>
                <a:spcPct val="100000"/>
              </a:lnSpc>
              <a:spcBef>
                <a:spcPts val="961"/>
              </a:spcBef>
              <a:tabLst>
                <a:tab pos="89784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D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eﬁned</a:t>
            </a:r>
            <a:r>
              <a:rPr lang="en-US" sz="1600" b="0" u="none" spc="13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1" u="none" spc="-11" strike="noStrike">
                <a:solidFill>
                  <a:srgbClr val="000000"/>
                </a:solidFill>
                <a:effectLst/>
                <a:uFillTx/>
                <a:latin typeface="Verdana"/>
              </a:rPr>
              <a:t>N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etworking)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0640" indent="-428040">
              <a:lnSpc>
                <a:spcPct val="100000"/>
              </a:lnSpc>
              <a:spcBef>
                <a:spcPts val="1959"/>
              </a:spcBef>
              <a:buClr>
                <a:srgbClr val="000000"/>
              </a:buClr>
              <a:buFont typeface="MS PGothic"/>
              <a:buChar char="➔"/>
              <a:tabLst>
                <a:tab pos="440640" algn="l"/>
              </a:tabLst>
            </a:pPr>
            <a:r>
              <a:rPr lang="en-US" sz="1600" b="0" u="heavy" spc="85" strike="noStrike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Lucida Sans Unicode"/>
              </a:rPr>
              <a:t>How</a:t>
            </a:r>
            <a:r>
              <a:rPr lang="en-US" sz="1600" b="0" u="none" spc="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are</a:t>
            </a:r>
            <a:r>
              <a:rPr lang="en-US" sz="1600" b="0" u="none" spc="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Kubernetes</a:t>
            </a:r>
            <a:r>
              <a:rPr lang="en-US" sz="1600" b="0" u="none" spc="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Networking</a:t>
            </a:r>
            <a:r>
              <a:rPr lang="en-US" sz="1600" b="0" u="none" spc="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constructs</a:t>
            </a:r>
            <a:r>
              <a:rPr lang="en-US" sz="1600" b="0" u="none" spc="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implemented</a:t>
            </a:r>
            <a:r>
              <a:rPr lang="en-US" sz="1600" b="0" u="none" spc="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in</a:t>
            </a:r>
            <a:r>
              <a:rPr lang="en-US" sz="1600" b="0" u="none" spc="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OVN-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Kubernetes?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55040" indent="-351000">
              <a:lnSpc>
                <a:spcPct val="100000"/>
              </a:lnSpc>
              <a:spcBef>
                <a:spcPts val="961"/>
              </a:spcBef>
              <a:buClr>
                <a:srgbClr val="000000"/>
              </a:buClr>
              <a:buFont typeface="Arial MT"/>
              <a:buChar char="●"/>
              <a:tabLst>
                <a:tab pos="135504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OVN-</a:t>
            </a:r>
            <a:r>
              <a:rPr lang="en-US" sz="1600" b="0" u="none" spc="-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K</a:t>
            </a:r>
            <a:r>
              <a:rPr lang="en-US" sz="1600" b="0" u="none" spc="-7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7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main</a:t>
            </a:r>
            <a:r>
              <a:rPr lang="en-US" sz="1600" b="0" u="none" spc="-7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components</a:t>
            </a:r>
            <a:r>
              <a:rPr lang="en-US" sz="1600" b="0" u="none" spc="-7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55040" indent="-351000">
              <a:lnSpc>
                <a:spcPct val="100000"/>
              </a:lnSpc>
              <a:spcBef>
                <a:spcPts val="961"/>
              </a:spcBef>
              <a:buClr>
                <a:srgbClr val="000000"/>
              </a:buClr>
              <a:buFont typeface="Arial MT"/>
              <a:buChar char="●"/>
              <a:tabLst>
                <a:tab pos="1355040" algn="l"/>
              </a:tabLst>
            </a:pPr>
            <a:r>
              <a:rPr lang="en-US" sz="1600" b="0" u="none" spc="7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Pods</a:t>
            </a:r>
            <a:r>
              <a:rPr lang="en-US" sz="1600" b="0" u="none" spc="-2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and</a:t>
            </a:r>
            <a:r>
              <a:rPr lang="en-US" sz="1600" b="0" u="none" spc="-3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Services</a:t>
            </a:r>
            <a:r>
              <a:rPr lang="en-US" sz="1600" b="0" u="none" spc="-2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will</a:t>
            </a:r>
            <a:r>
              <a:rPr lang="en-US" sz="1600" b="0" u="none" spc="-2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be</a:t>
            </a:r>
            <a:r>
              <a:rPr lang="en-US" sz="1600" b="0" u="none" spc="-2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the</a:t>
            </a:r>
            <a:r>
              <a:rPr lang="en-US" sz="1600" b="0" u="none" spc="-2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focus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14" descr="Blue Powerpoint Images – Browse 140,337 Stock Photos, Vectors, and Video |  Adobe Stock"/>
          <p:cNvPicPr/>
          <p:nvPr/>
        </p:nvPicPr>
        <p:blipFill>
          <a:blip r:embed="rId1"/>
          <a:stretch/>
        </p:blipFill>
        <p:spPr>
          <a:xfrm>
            <a:off x="18360" y="-12240"/>
            <a:ext cx="12159360" cy="686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PlaceHolder 1"/>
          <p:cNvSpPr>
            <a:spLocks noGrp="1"/>
          </p:cNvSpPr>
          <p:nvPr>
            <p:ph type="sldNum" idx="21"/>
          </p:nvPr>
        </p:nvSpPr>
        <p:spPr>
          <a:xfrm>
            <a:off x="11634120" y="6487560"/>
            <a:ext cx="295560" cy="22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4724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51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47240" indent="0" algn="l">
              <a:lnSpc>
                <a:spcPts val="1644"/>
              </a:lnSpc>
              <a:buNone/>
              <a:tabLst>
                <a:tab pos="0" algn="l"/>
              </a:tabLst>
            </a:pPr>
            <a:fld id="{B3F76101-61A0-4BE5-9925-D06F3B40A458}" type="slidenum"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title"/>
          </p:nvPr>
        </p:nvSpPr>
        <p:spPr>
          <a:xfrm>
            <a:off x="1441440" y="2971800"/>
            <a:ext cx="6927480" cy="69840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4400" b="1" u="none" spc="-230" strike="noStrike">
                <a:solidFill>
                  <a:srgbClr val="FFFFFF"/>
                </a:solidFill>
                <a:effectLst/>
                <a:uFillTx/>
                <a:latin typeface="Verdana"/>
              </a:rPr>
              <a:t>Kubernetes</a:t>
            </a:r>
            <a:r>
              <a:rPr lang="en-US" sz="4400" b="1" u="none" spc="-210" strike="noStrike">
                <a:solidFill>
                  <a:srgbClr val="FFFFFF"/>
                </a:solidFill>
                <a:effectLst/>
                <a:uFillTx/>
                <a:latin typeface="Verdana"/>
              </a:rPr>
              <a:t> </a:t>
            </a:r>
            <a:r>
              <a:rPr lang="en-US" sz="4400" b="1" u="none" spc="-181" strike="noStrike">
                <a:solidFill>
                  <a:srgbClr val="FFFFFF"/>
                </a:solidFill>
                <a:effectLst/>
                <a:uFillTx/>
                <a:latin typeface="Verdana"/>
              </a:rPr>
              <a:t>Networking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45280" y="264600"/>
            <a:ext cx="5584320" cy="57564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dk2"/>
                </a:solidFill>
                <a:effectLst/>
                <a:uFillTx/>
                <a:latin typeface="Verdana"/>
              </a:rPr>
              <a:t>Kubernetes</a:t>
            </a:r>
            <a:r>
              <a:rPr lang="en-US" sz="3600" b="0" u="none" spc="190" strike="noStrike">
                <a:solidFill>
                  <a:schemeClr val="dk2"/>
                </a:solidFill>
                <a:effectLst/>
                <a:uFillTx/>
                <a:latin typeface="Verdana"/>
              </a:rPr>
              <a:t> </a:t>
            </a:r>
            <a:r>
              <a:rPr lang="en-US" sz="3600" b="0" u="none" spc="79" strike="noStrike">
                <a:solidFill>
                  <a:schemeClr val="dk2"/>
                </a:solidFill>
                <a:effectLst/>
                <a:uFillTx/>
                <a:latin typeface="Verdana"/>
              </a:rPr>
              <a:t>Networking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4" name="object 6"/>
          <p:cNvSpPr/>
          <p:nvPr/>
        </p:nvSpPr>
        <p:spPr>
          <a:xfrm>
            <a:off x="873720" y="854640"/>
            <a:ext cx="9603720" cy="37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44720">
              <a:lnSpc>
                <a:spcPct val="100000"/>
              </a:lnSpc>
              <a:spcBef>
                <a:spcPts val="99"/>
              </a:spcBef>
              <a:tabLst>
                <a:tab pos="44064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-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	</a:t>
            </a:r>
            <a:r>
              <a:rPr lang="en-US" sz="1600" b="0" u="none" spc="113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Where</a:t>
            </a:r>
            <a:r>
              <a:rPr lang="en-US" sz="1600" b="0" u="none" spc="11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does</a:t>
            </a:r>
            <a:r>
              <a:rPr lang="en-US" sz="1600" b="0" u="none" spc="14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OVN-</a:t>
            </a:r>
            <a:r>
              <a:rPr lang="en-US" sz="1600" b="0" u="none" spc="11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Kubernetes</a:t>
            </a:r>
            <a:r>
              <a:rPr lang="en-US" sz="1600" b="0" u="none" spc="14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1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belong</a:t>
            </a:r>
            <a:r>
              <a:rPr lang="en-US" sz="1600" b="0" u="none" spc="14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11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in </a:t>
            </a:r>
            <a:r>
              <a:rPr lang="en-US" sz="1600" b="0" u="none" spc="65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the</a:t>
            </a:r>
            <a:r>
              <a:rPr lang="en-US" sz="1600" b="0" u="none" spc="14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11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Kubernetes</a:t>
            </a:r>
            <a:r>
              <a:rPr lang="en-US" sz="1600" b="0" u="none" spc="14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1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world?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0640" indent="-428040">
              <a:lnSpc>
                <a:spcPct val="100000"/>
              </a:lnSpc>
              <a:spcBef>
                <a:spcPts val="1454"/>
              </a:spcBef>
              <a:buClr>
                <a:srgbClr val="000000"/>
              </a:buClr>
              <a:buFont typeface="MS PGothic"/>
              <a:buChar char="➔"/>
              <a:tabLst>
                <a:tab pos="440640" algn="l"/>
              </a:tabLst>
            </a:pPr>
            <a:r>
              <a:rPr lang="en-US" sz="1600" b="0" u="none" spc="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Kubernetes</a:t>
            </a:r>
            <a:r>
              <a:rPr lang="en-US" sz="1600" b="0" u="none" spc="3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7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Fundamental</a:t>
            </a:r>
            <a:r>
              <a:rPr lang="en-US" sz="1600" b="0" u="none" spc="3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Networking</a:t>
            </a:r>
            <a:r>
              <a:rPr lang="en-US" sz="1600" b="0" u="none" spc="4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requirements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97840" lvl="1" indent="-349920">
              <a:lnSpc>
                <a:spcPct val="100000"/>
              </a:lnSpc>
              <a:spcBef>
                <a:spcPts val="961"/>
              </a:spcBef>
              <a:buClr>
                <a:srgbClr val="000000"/>
              </a:buClr>
              <a:buFont typeface="OpenSymbol"/>
              <a:buChar char="◆"/>
              <a:tabLst>
                <a:tab pos="897840" algn="l"/>
              </a:tabLst>
            </a:pPr>
            <a:r>
              <a:rPr lang="en-US" sz="1600" b="0" u="none" spc="6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Every</a:t>
            </a:r>
            <a:r>
              <a:rPr lang="en-US" sz="1600" b="0" u="none" spc="-8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pod</a:t>
            </a:r>
            <a:r>
              <a:rPr lang="en-US" sz="1600" b="0" u="none" spc="-8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must</a:t>
            </a:r>
            <a:r>
              <a:rPr lang="en-US" sz="1600" b="0" u="none" spc="-8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have</a:t>
            </a:r>
            <a:r>
              <a:rPr lang="en-US" sz="1600" b="0" u="none" spc="-8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its</a:t>
            </a:r>
            <a:r>
              <a:rPr lang="en-US" sz="1600" b="0" u="none" spc="-8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7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own</a:t>
            </a:r>
            <a:r>
              <a:rPr lang="en-US" sz="1600" b="0" u="none" spc="-8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unique</a:t>
            </a:r>
            <a:r>
              <a:rPr lang="en-US" sz="1600" b="0" u="none" spc="-8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1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IP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97840" lvl="1" indent="-349920">
              <a:lnSpc>
                <a:spcPct val="100000"/>
              </a:lnSpc>
              <a:spcBef>
                <a:spcPts val="961"/>
              </a:spcBef>
              <a:buClr>
                <a:srgbClr val="000000"/>
              </a:buClr>
              <a:buFont typeface="OpenSymbol"/>
              <a:buChar char="◆"/>
              <a:tabLst>
                <a:tab pos="897840" algn="l"/>
              </a:tabLst>
            </a:pPr>
            <a:r>
              <a:rPr lang="en-US" sz="1600" b="0" u="none" spc="99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Pod</a:t>
            </a:r>
            <a:r>
              <a:rPr lang="en-US" sz="1600" b="0" u="none" spc="-6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to</a:t>
            </a:r>
            <a:r>
              <a:rPr lang="en-US" sz="1600" b="0" u="none" spc="-6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pod</a:t>
            </a:r>
            <a:r>
              <a:rPr lang="en-US" sz="1600" b="0" u="none" spc="-5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communication</a:t>
            </a:r>
            <a:r>
              <a:rPr lang="en-US" sz="1600" b="0" u="none" spc="-6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must</a:t>
            </a:r>
            <a:r>
              <a:rPr lang="en-US" sz="1600" b="0" u="none" spc="-6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be</a:t>
            </a:r>
            <a:r>
              <a:rPr lang="en-US" sz="1600" b="0" u="none" spc="-5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possible</a:t>
            </a:r>
            <a:r>
              <a:rPr lang="en-US" sz="1600" b="0" u="none" spc="-6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within</a:t>
            </a:r>
            <a:r>
              <a:rPr lang="en-US" sz="1600" b="0" u="none" spc="-5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the</a:t>
            </a:r>
            <a:r>
              <a:rPr lang="en-US" sz="1600" b="0" u="none" spc="-6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cluster</a:t>
            </a:r>
            <a:r>
              <a:rPr lang="en-US" sz="1600" b="0" u="none" spc="-6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97840" lvl="1" indent="-349920">
              <a:lnSpc>
                <a:spcPct val="100000"/>
              </a:lnSpc>
              <a:spcBef>
                <a:spcPts val="961"/>
              </a:spcBef>
              <a:buClr>
                <a:srgbClr val="000000"/>
              </a:buClr>
              <a:buFont typeface="OpenSymbol"/>
              <a:buChar char="◆"/>
              <a:tabLst>
                <a:tab pos="897840" algn="l"/>
              </a:tabLst>
            </a:pPr>
            <a:r>
              <a:rPr lang="en-US" sz="1600" b="0" u="none" spc="6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Node</a:t>
            </a:r>
            <a:r>
              <a:rPr lang="en-US" sz="1600" b="0" u="none" spc="-7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to</a:t>
            </a:r>
            <a:r>
              <a:rPr lang="en-US" sz="1600" b="0" u="none" spc="-7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pod</a:t>
            </a:r>
            <a:r>
              <a:rPr lang="en-US" sz="1600" b="0" u="none" spc="-7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communication</a:t>
            </a:r>
            <a:r>
              <a:rPr lang="en-US" sz="1600" b="0" u="none" spc="-7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must</a:t>
            </a:r>
            <a:r>
              <a:rPr lang="en-US" sz="1600" b="0" u="none" spc="-7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be</a:t>
            </a:r>
            <a:r>
              <a:rPr lang="en-US" sz="1600" b="0" u="none" spc="-7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seamless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0640" indent="-428040">
              <a:lnSpc>
                <a:spcPct val="100000"/>
              </a:lnSpc>
              <a:spcBef>
                <a:spcPts val="961"/>
              </a:spcBef>
              <a:buClr>
                <a:srgbClr val="000000"/>
              </a:buClr>
              <a:buFont typeface="MS PGothic"/>
              <a:buChar char="➔"/>
              <a:tabLst>
                <a:tab pos="440640" algn="l"/>
              </a:tabLst>
            </a:pPr>
            <a:r>
              <a:rPr lang="en-US" sz="1600" b="0" u="heavy" spc="11" strike="noStrike">
                <a:solidFill>
                  <a:srgbClr val="0000FF"/>
                </a:solidFill>
                <a:effectLst/>
                <a:uFill>
                  <a:solidFill>
                    <a:srgbClr val="0000FF"/>
                  </a:solidFill>
                </a:uFill>
                <a:latin typeface="Lucida Sans Unicode"/>
                <a:hlinkClick r:id="rId1"/>
              </a:rPr>
              <a:t>Kubernetes</a:t>
            </a:r>
            <a:r>
              <a:rPr lang="en-US" sz="1600" b="0" u="heavy" spc="85" strike="noStrike">
                <a:solidFill>
                  <a:srgbClr val="0000FF"/>
                </a:solidFill>
                <a:effectLst/>
                <a:uFill>
                  <a:solidFill>
                    <a:srgbClr val="0000FF"/>
                  </a:solidFill>
                </a:uFill>
                <a:latin typeface="Lucida Sans Unicode"/>
                <a:hlinkClick r:id="rId2"/>
              </a:rPr>
              <a:t> </a:t>
            </a:r>
            <a:r>
              <a:rPr lang="en-US" sz="1600" b="0" u="heavy" spc="51" strike="noStrike">
                <a:solidFill>
                  <a:srgbClr val="0000FF"/>
                </a:solidFill>
                <a:effectLst/>
                <a:uFill>
                  <a:solidFill>
                    <a:srgbClr val="0000FF"/>
                  </a:solidFill>
                </a:uFill>
                <a:latin typeface="Lucida Sans Unicode"/>
                <a:hlinkClick r:id="rId3"/>
              </a:rPr>
              <a:t>Networking</a:t>
            </a:r>
            <a:r>
              <a:rPr lang="en-US" sz="1600" b="0" u="heavy" spc="85" strike="noStrike">
                <a:solidFill>
                  <a:srgbClr val="0000FF"/>
                </a:solidFill>
                <a:effectLst/>
                <a:uFill>
                  <a:solidFill>
                    <a:srgbClr val="0000FF"/>
                  </a:solidFill>
                </a:uFill>
                <a:latin typeface="Lucida Sans Unicode"/>
                <a:hlinkClick r:id="rId4"/>
              </a:rPr>
              <a:t> </a:t>
            </a:r>
            <a:r>
              <a:rPr lang="en-US" sz="1600" b="0" u="heavy" spc="45" strike="noStrike">
                <a:solidFill>
                  <a:srgbClr val="0000FF"/>
                </a:solidFill>
                <a:effectLst/>
                <a:uFill>
                  <a:solidFill>
                    <a:srgbClr val="0000FF"/>
                  </a:solidFill>
                </a:uFill>
                <a:latin typeface="Lucida Sans Unicode"/>
                <a:hlinkClick r:id="rId5"/>
              </a:rPr>
              <a:t>Model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97840" lvl="1" indent="-349920">
              <a:lnSpc>
                <a:spcPct val="100000"/>
              </a:lnSpc>
              <a:spcBef>
                <a:spcPts val="961"/>
              </a:spcBef>
              <a:buClr>
                <a:srgbClr val="000000"/>
              </a:buClr>
              <a:buFont typeface="OpenSymbol"/>
              <a:buChar char="◆"/>
              <a:tabLst>
                <a:tab pos="89784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K8s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4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is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a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7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bunch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of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APIs,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it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4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is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plugin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agnostic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as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far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as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networking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4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is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4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concerned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98560" lvl="1" indent="-350640">
              <a:lnSpc>
                <a:spcPct val="150000"/>
              </a:lnSpc>
              <a:buClr>
                <a:srgbClr val="000000"/>
              </a:buClr>
              <a:buFont typeface="OpenSymbol"/>
              <a:buChar char="◆"/>
              <a:tabLst>
                <a:tab pos="898560" algn="l"/>
              </a:tabLst>
            </a:pP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Networking</a:t>
            </a:r>
            <a:r>
              <a:rPr lang="en-US" sz="1600" b="0" u="none" spc="-2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solutions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are</a:t>
            </a:r>
            <a:r>
              <a:rPr lang="en-US" sz="1600" b="0" u="none" spc="-2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implemented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on</a:t>
            </a:r>
            <a:r>
              <a:rPr lang="en-US" sz="1600" b="0" u="none" spc="-2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top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of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core</a:t>
            </a:r>
            <a:r>
              <a:rPr lang="en-US" sz="1600" b="0" u="none" spc="-2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K8s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using</a:t>
            </a:r>
            <a:r>
              <a:rPr lang="en-US" sz="1600" b="0" u="none" spc="-4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1" u="none" spc="-65" strike="noStrike">
                <a:solidFill>
                  <a:srgbClr val="000000"/>
                </a:solidFill>
                <a:effectLst/>
                <a:uFillTx/>
                <a:latin typeface="Verdana"/>
              </a:rPr>
              <a:t>Container</a:t>
            </a:r>
            <a:r>
              <a:rPr lang="en-US" sz="1600" b="1" u="none" spc="-20" strike="noStrike">
                <a:solidFill>
                  <a:srgbClr val="000000"/>
                </a:solidFill>
                <a:effectLst/>
                <a:uFillTx/>
                <a:latin typeface="Verdana"/>
              </a:rPr>
              <a:t> </a:t>
            </a:r>
            <a:r>
              <a:rPr lang="en-US" sz="1600" b="1" u="none" spc="-34" strike="noStrike">
                <a:solidFill>
                  <a:srgbClr val="000000"/>
                </a:solidFill>
                <a:effectLst/>
                <a:uFillTx/>
                <a:latin typeface="Verdana"/>
              </a:rPr>
              <a:t>Network </a:t>
            </a:r>
            <a:r>
              <a:rPr lang="en-US" sz="1600" b="1" u="none" spc="-99" strike="noStrike">
                <a:solidFill>
                  <a:srgbClr val="000000"/>
                </a:solidFill>
                <a:effectLst/>
                <a:uFillTx/>
                <a:latin typeface="Verdana"/>
              </a:rPr>
              <a:t>Interface</a:t>
            </a:r>
            <a:r>
              <a:rPr lang="en-US" sz="1600" b="1" u="none" spc="-65" strike="noStrike">
                <a:solidFill>
                  <a:srgbClr val="000000"/>
                </a:solidFill>
                <a:effectLst/>
                <a:uFillTx/>
                <a:latin typeface="Verdana"/>
              </a:rPr>
              <a:t> </a:t>
            </a:r>
            <a:r>
              <a:rPr lang="en-US" sz="1600" b="1" u="none" spc="-215" strike="noStrike">
                <a:solidFill>
                  <a:srgbClr val="000000"/>
                </a:solidFill>
                <a:effectLst/>
                <a:uFillTx/>
                <a:latin typeface="Verdana"/>
              </a:rPr>
              <a:t>(CNI)</a:t>
            </a:r>
            <a:r>
              <a:rPr lang="en-US" sz="1600" b="1" u="none" spc="-65" strike="noStrike">
                <a:solidFill>
                  <a:srgbClr val="000000"/>
                </a:solidFill>
                <a:effectLst/>
                <a:uFillTx/>
                <a:latin typeface="Verdana"/>
              </a:rPr>
              <a:t> </a:t>
            </a:r>
            <a:r>
              <a:rPr lang="en-US" sz="1600" b="0" u="heavy" spc="-11" strike="noStrike">
                <a:solidFill>
                  <a:srgbClr val="0000FF"/>
                </a:solidFill>
                <a:effectLst/>
                <a:uFill>
                  <a:solidFill>
                    <a:srgbClr val="0000FF"/>
                  </a:solidFill>
                </a:uFill>
                <a:latin typeface="Lucida Sans Unicode"/>
                <a:hlinkClick r:id="rId6"/>
              </a:rPr>
              <a:t>Speciﬁcation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97840" lvl="1" indent="-349920">
              <a:lnSpc>
                <a:spcPct val="100000"/>
              </a:lnSpc>
              <a:spcBef>
                <a:spcPts val="961"/>
              </a:spcBef>
              <a:buClr>
                <a:srgbClr val="000000"/>
              </a:buClr>
              <a:buFont typeface="OpenSymbol"/>
              <a:buChar char="◆"/>
              <a:tabLst>
                <a:tab pos="89784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OVN-Kubernetes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4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is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one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such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CNI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(</a:t>
            </a:r>
            <a:r>
              <a:rPr lang="en-US" sz="1600" b="0" u="heavy" strike="noStrike">
                <a:solidFill>
                  <a:srgbClr val="0000FF"/>
                </a:solidFill>
                <a:effectLst/>
                <a:uFill>
                  <a:solidFill>
                    <a:srgbClr val="0000FF"/>
                  </a:solidFill>
                </a:uFill>
                <a:latin typeface="Lucida Sans Unicode"/>
                <a:hlinkClick r:id="rId7"/>
              </a:rPr>
              <a:t>others</a:t>
            </a:r>
            <a:r>
              <a:rPr lang="en-US" sz="1600" b="0" u="none" spc="-14" strike="noStrike">
                <a:solidFill>
                  <a:srgbClr val="0000FF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4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include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ﬂannel,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antrea,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cilium,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calico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etc)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object 7"/>
          <p:cNvSpPr/>
          <p:nvPr/>
        </p:nvSpPr>
        <p:spPr>
          <a:xfrm>
            <a:off x="1115280" y="5196600"/>
            <a:ext cx="2420640" cy="508320"/>
          </a:xfrm>
          <a:prstGeom prst="rect">
            <a:avLst/>
          </a:prstGeom>
          <a:solidFill>
            <a:srgbClr val="EEECE1"/>
          </a:solidFill>
          <a:ln w="9524">
            <a:solidFill>
              <a:srgbClr val="1F49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234360" rIns="0" bIns="0" anchor="t">
            <a:spAutoFit/>
          </a:bodyPr>
          <a:p>
            <a:pPr marL="539280">
              <a:lnSpc>
                <a:spcPct val="100000"/>
              </a:lnSpc>
              <a:spcBef>
                <a:spcPts val="1845"/>
              </a:spcBef>
            </a:pP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Verdana"/>
              </a:rPr>
              <a:t>Kubernetes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object 8"/>
          <p:cNvSpPr/>
          <p:nvPr/>
        </p:nvSpPr>
        <p:spPr>
          <a:xfrm>
            <a:off x="5385600" y="5205960"/>
            <a:ext cx="1017360" cy="5083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4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234360" rIns="0" bIns="0" anchor="t">
            <a:spAutoFit/>
          </a:bodyPr>
          <a:p>
            <a:pPr marL="298440">
              <a:lnSpc>
                <a:spcPct val="100000"/>
              </a:lnSpc>
              <a:spcBef>
                <a:spcPts val="1845"/>
              </a:spcBef>
            </a:pPr>
            <a:r>
              <a:rPr lang="en-US" sz="1800" b="0" u="none" spc="-26" strike="noStrike">
                <a:solidFill>
                  <a:srgbClr val="000000"/>
                </a:solidFill>
                <a:effectLst/>
                <a:uFillTx/>
                <a:latin typeface="Verdana"/>
              </a:rPr>
              <a:t>CNI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7" name="object 9"/>
          <p:cNvGrpSpPr/>
          <p:nvPr/>
        </p:nvGrpSpPr>
        <p:grpSpPr>
          <a:xfrm>
            <a:off x="8253000" y="5205960"/>
            <a:ext cx="1017360" cy="761400"/>
            <a:chOff x="8253000" y="5205960"/>
            <a:chExt cx="1017360" cy="761400"/>
          </a:xfrm>
        </p:grpSpPr>
        <p:sp>
          <p:nvSpPr>
            <p:cNvPr id="58" name="object 10"/>
            <p:cNvSpPr/>
            <p:nvPr/>
          </p:nvSpPr>
          <p:spPr>
            <a:xfrm>
              <a:off x="8253000" y="5205960"/>
              <a:ext cx="1017360" cy="761400"/>
            </a:xfrm>
            <a:custGeom>
              <a:avLst/>
              <a:gdLst>
                <a:gd name="textAreaLeft" fmla="*/ 0 w 1017360"/>
                <a:gd name="textAreaRight" fmla="*/ 1019160 w 1017360"/>
                <a:gd name="textAreaTop" fmla="*/ 0 h 761400"/>
                <a:gd name="textAreaBottom" fmla="*/ 763200 h 761400"/>
              </a:gdLst>
              <a:ahLst/>
              <a:cxnLst/>
              <a:rect l="textAreaLeft" t="textAreaTop" r="textAreaRight" b="textAreaBottom"/>
              <a:pathLst>
                <a:path w="1019175" h="763270">
                  <a:moveTo>
                    <a:pt x="1019099" y="763199"/>
                  </a:moveTo>
                  <a:lnTo>
                    <a:pt x="0" y="763199"/>
                  </a:lnTo>
                  <a:lnTo>
                    <a:pt x="0" y="0"/>
                  </a:lnTo>
                  <a:lnTo>
                    <a:pt x="1019099" y="0"/>
                  </a:lnTo>
                  <a:lnTo>
                    <a:pt x="1019099" y="763199"/>
                  </a:lnTo>
                  <a:close/>
                </a:path>
              </a:pathLst>
            </a:custGeom>
            <a:solidFill>
              <a:srgbClr val="EEEC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object 11"/>
            <p:cNvSpPr/>
            <p:nvPr/>
          </p:nvSpPr>
          <p:spPr>
            <a:xfrm>
              <a:off x="8253000" y="5205960"/>
              <a:ext cx="1017360" cy="761400"/>
            </a:xfrm>
            <a:custGeom>
              <a:avLst/>
              <a:gdLst>
                <a:gd name="textAreaLeft" fmla="*/ 0 w 1017360"/>
                <a:gd name="textAreaRight" fmla="*/ 1019160 w 1017360"/>
                <a:gd name="textAreaTop" fmla="*/ 0 h 761400"/>
                <a:gd name="textAreaBottom" fmla="*/ 763200 h 761400"/>
              </a:gdLst>
              <a:ahLst/>
              <a:cxnLst/>
              <a:rect l="textAreaLeft" t="textAreaTop" r="textAreaRight" b="textAreaBottom"/>
              <a:pathLst>
                <a:path w="1019175" h="763270">
                  <a:moveTo>
                    <a:pt x="0" y="0"/>
                  </a:moveTo>
                  <a:lnTo>
                    <a:pt x="1019099" y="0"/>
                  </a:lnTo>
                  <a:lnTo>
                    <a:pt x="1019099" y="763199"/>
                  </a:lnTo>
                  <a:lnTo>
                    <a:pt x="0" y="76319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1F49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0" name="object 12"/>
          <p:cNvSpPr/>
          <p:nvPr/>
        </p:nvSpPr>
        <p:spPr>
          <a:xfrm>
            <a:off x="8253000" y="5205960"/>
            <a:ext cx="1017360" cy="508320"/>
          </a:xfrm>
          <a:prstGeom prst="rect">
            <a:avLst/>
          </a:prstGeom>
          <a:solidFill>
            <a:srgbClr val="EEECE1"/>
          </a:solidFill>
          <a:ln w="9524">
            <a:solidFill>
              <a:srgbClr val="1F49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234360" rIns="0" bIns="0" anchor="t">
            <a:spAutoFit/>
          </a:bodyPr>
          <a:p>
            <a:pPr marL="277560">
              <a:lnSpc>
                <a:spcPct val="100000"/>
              </a:lnSpc>
              <a:spcBef>
                <a:spcPts val="1845"/>
              </a:spcBef>
            </a:pPr>
            <a:r>
              <a:rPr lang="en-US" sz="1800" b="0" u="none" spc="85" strike="noStrike">
                <a:solidFill>
                  <a:srgbClr val="000000"/>
                </a:solidFill>
                <a:effectLst/>
                <a:uFillTx/>
                <a:latin typeface="Verdana"/>
              </a:rPr>
              <a:t>Pod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1" name="object 13"/>
          <p:cNvGrpSpPr/>
          <p:nvPr/>
        </p:nvGrpSpPr>
        <p:grpSpPr>
          <a:xfrm>
            <a:off x="8078400" y="5811480"/>
            <a:ext cx="735480" cy="275040"/>
            <a:chOff x="8078400" y="5811480"/>
            <a:chExt cx="735480" cy="275040"/>
          </a:xfrm>
        </p:grpSpPr>
        <p:sp>
          <p:nvSpPr>
            <p:cNvPr id="62" name="object 14"/>
            <p:cNvSpPr/>
            <p:nvPr/>
          </p:nvSpPr>
          <p:spPr>
            <a:xfrm>
              <a:off x="8078400" y="5811480"/>
              <a:ext cx="735480" cy="275040"/>
            </a:xfrm>
            <a:custGeom>
              <a:avLst/>
              <a:gdLst>
                <a:gd name="textAreaLeft" fmla="*/ 0 w 735480"/>
                <a:gd name="textAreaRight" fmla="*/ 737280 w 735480"/>
                <a:gd name="textAreaTop" fmla="*/ 0 h 275040"/>
                <a:gd name="textAreaBottom" fmla="*/ 276840 h 275040"/>
              </a:gdLst>
              <a:ahLst/>
              <a:cxnLst/>
              <a:rect l="textAreaLeft" t="textAreaTop" r="textAreaRight" b="textAreaBottom"/>
              <a:pathLst>
                <a:path w="737234" h="276860">
                  <a:moveTo>
                    <a:pt x="737099" y="276299"/>
                  </a:moveTo>
                  <a:lnTo>
                    <a:pt x="0" y="276299"/>
                  </a:lnTo>
                  <a:lnTo>
                    <a:pt x="0" y="0"/>
                  </a:lnTo>
                  <a:lnTo>
                    <a:pt x="737099" y="0"/>
                  </a:lnTo>
                  <a:lnTo>
                    <a:pt x="737099" y="276299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object 15"/>
            <p:cNvSpPr/>
            <p:nvPr/>
          </p:nvSpPr>
          <p:spPr>
            <a:xfrm>
              <a:off x="8078400" y="5811480"/>
              <a:ext cx="735480" cy="275040"/>
            </a:xfrm>
            <a:custGeom>
              <a:avLst/>
              <a:gdLst>
                <a:gd name="textAreaLeft" fmla="*/ 0 w 735480"/>
                <a:gd name="textAreaRight" fmla="*/ 737280 w 735480"/>
                <a:gd name="textAreaTop" fmla="*/ 0 h 275040"/>
                <a:gd name="textAreaBottom" fmla="*/ 276840 h 275040"/>
              </a:gdLst>
              <a:ahLst/>
              <a:cxnLst/>
              <a:rect l="textAreaLeft" t="textAreaTop" r="textAreaRight" b="textAreaBottom"/>
              <a:pathLst>
                <a:path w="737234" h="276860">
                  <a:moveTo>
                    <a:pt x="0" y="0"/>
                  </a:moveTo>
                  <a:lnTo>
                    <a:pt x="737099" y="0"/>
                  </a:lnTo>
                  <a:lnTo>
                    <a:pt x="737099" y="276299"/>
                  </a:lnTo>
                  <a:lnTo>
                    <a:pt x="0" y="276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9524">
              <a:solidFill>
                <a:srgbClr val="1F49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" name="object 16"/>
          <p:cNvSpPr/>
          <p:nvPr/>
        </p:nvSpPr>
        <p:spPr>
          <a:xfrm>
            <a:off x="8253000" y="5811480"/>
            <a:ext cx="561600" cy="1569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4">
            <a:solidFill>
              <a:srgbClr val="1F49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25920" rIns="0" bIns="0" anchor="t">
            <a:spAutoFit/>
          </a:bodyPr>
          <a:p>
            <a:pPr marL="20880">
              <a:lnSpc>
                <a:spcPts val="1035"/>
              </a:lnSpc>
              <a:spcBef>
                <a:spcPts val="204"/>
              </a:spcBef>
            </a:pPr>
            <a:r>
              <a:rPr lang="en-US" sz="1400" b="0" u="none" spc="-20" strike="noStrike">
                <a:solidFill>
                  <a:srgbClr val="000000"/>
                </a:solidFill>
                <a:effectLst/>
                <a:uFillTx/>
                <a:latin typeface="Arial MT"/>
              </a:rPr>
              <a:t>eth0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5" name="object 17"/>
          <p:cNvGrpSpPr/>
          <p:nvPr/>
        </p:nvGrpSpPr>
        <p:grpSpPr>
          <a:xfrm>
            <a:off x="3537000" y="5571720"/>
            <a:ext cx="1833120" cy="29880"/>
            <a:chOff x="3537000" y="5571720"/>
            <a:chExt cx="1833120" cy="29880"/>
          </a:xfrm>
        </p:grpSpPr>
        <p:sp>
          <p:nvSpPr>
            <p:cNvPr id="66" name="object 18"/>
            <p:cNvSpPr/>
            <p:nvPr/>
          </p:nvSpPr>
          <p:spPr>
            <a:xfrm>
              <a:off x="3537000" y="5578200"/>
              <a:ext cx="1789560" cy="7560"/>
            </a:xfrm>
            <a:custGeom>
              <a:avLst/>
              <a:gdLst>
                <a:gd name="textAreaLeft" fmla="*/ 0 w 1789560"/>
                <a:gd name="textAreaRight" fmla="*/ 1791360 w 1789560"/>
                <a:gd name="textAreaTop" fmla="*/ 0 h 7560"/>
                <a:gd name="textAreaBottom" fmla="*/ 9360 h 7560"/>
              </a:gdLst>
              <a:ahLst/>
              <a:cxnLst/>
              <a:rect l="textAreaLeft" t="textAreaTop" r="textAreaRight" b="textAreaBottom"/>
              <a:pathLst>
                <a:path w="1791335" h="9525">
                  <a:moveTo>
                    <a:pt x="0" y="0"/>
                  </a:moveTo>
                  <a:lnTo>
                    <a:pt x="1791150" y="9012"/>
                  </a:lnTo>
                </a:path>
              </a:pathLst>
            </a:custGeom>
            <a:noFill/>
            <a:ln w="9524">
              <a:solidFill>
                <a:srgbClr val="1F49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object 19"/>
            <p:cNvSpPr/>
            <p:nvPr/>
          </p:nvSpPr>
          <p:spPr>
            <a:xfrm>
              <a:off x="5328000" y="5571720"/>
              <a:ext cx="42120" cy="29880"/>
            </a:xfrm>
            <a:custGeom>
              <a:avLst/>
              <a:gdLst>
                <a:gd name="textAreaLeft" fmla="*/ 0 w 42120"/>
                <a:gd name="textAreaRight" fmla="*/ 43920 w 42120"/>
                <a:gd name="textAreaTop" fmla="*/ 0 h 29880"/>
                <a:gd name="textAreaBottom" fmla="*/ 31680 h 29880"/>
              </a:gdLst>
              <a:ahLst/>
              <a:cxnLst/>
              <a:rect l="textAreaLeft" t="textAreaTop" r="textAreaRight" b="textAreaBottom"/>
              <a:pathLst>
                <a:path w="43814" h="31750">
                  <a:moveTo>
                    <a:pt x="0" y="31464"/>
                  </a:moveTo>
                  <a:lnTo>
                    <a:pt x="158" y="0"/>
                  </a:lnTo>
                  <a:lnTo>
                    <a:pt x="43303" y="15949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1F49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object 20"/>
            <p:cNvSpPr/>
            <p:nvPr/>
          </p:nvSpPr>
          <p:spPr>
            <a:xfrm>
              <a:off x="5328000" y="5571720"/>
              <a:ext cx="42120" cy="29880"/>
            </a:xfrm>
            <a:custGeom>
              <a:avLst/>
              <a:gdLst>
                <a:gd name="textAreaLeft" fmla="*/ 0 w 42120"/>
                <a:gd name="textAreaRight" fmla="*/ 43920 w 42120"/>
                <a:gd name="textAreaTop" fmla="*/ 0 h 29880"/>
                <a:gd name="textAreaBottom" fmla="*/ 31680 h 29880"/>
              </a:gdLst>
              <a:ahLst/>
              <a:cxnLst/>
              <a:rect l="textAreaLeft" t="textAreaTop" r="textAreaRight" b="textAreaBottom"/>
              <a:pathLst>
                <a:path w="43814" h="31750">
                  <a:moveTo>
                    <a:pt x="0" y="31464"/>
                  </a:moveTo>
                  <a:lnTo>
                    <a:pt x="43303" y="15949"/>
                  </a:lnTo>
                  <a:lnTo>
                    <a:pt x="158" y="0"/>
                  </a:lnTo>
                  <a:lnTo>
                    <a:pt x="0" y="31464"/>
                  </a:lnTo>
                  <a:close/>
                </a:path>
              </a:pathLst>
            </a:custGeom>
            <a:noFill/>
            <a:ln w="9524">
              <a:solidFill>
                <a:srgbClr val="1F49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9" name="object 21"/>
          <p:cNvGrpSpPr/>
          <p:nvPr/>
        </p:nvGrpSpPr>
        <p:grpSpPr>
          <a:xfrm>
            <a:off x="5895000" y="5969160"/>
            <a:ext cx="2572200" cy="354960"/>
            <a:chOff x="5895000" y="5969160"/>
            <a:chExt cx="2572200" cy="354960"/>
          </a:xfrm>
        </p:grpSpPr>
        <p:sp>
          <p:nvSpPr>
            <p:cNvPr id="70" name="object 22"/>
            <p:cNvSpPr/>
            <p:nvPr/>
          </p:nvSpPr>
          <p:spPr>
            <a:xfrm>
              <a:off x="5895000" y="5969160"/>
              <a:ext cx="2550960" cy="354960"/>
            </a:xfrm>
            <a:custGeom>
              <a:avLst/>
              <a:gdLst>
                <a:gd name="textAreaLeft" fmla="*/ 0 w 2550960"/>
                <a:gd name="textAreaRight" fmla="*/ 2552760 w 2550960"/>
                <a:gd name="textAreaTop" fmla="*/ 0 h 354960"/>
                <a:gd name="textAreaBottom" fmla="*/ 356760 h 354960"/>
              </a:gdLst>
              <a:ahLst/>
              <a:cxnLst/>
              <a:rect l="textAreaLeft" t="textAreaTop" r="textAreaRight" b="textAreaBottom"/>
              <a:pathLst>
                <a:path w="2552700" h="356870">
                  <a:moveTo>
                    <a:pt x="0" y="0"/>
                  </a:moveTo>
                  <a:lnTo>
                    <a:pt x="0" y="356725"/>
                  </a:lnTo>
                  <a:lnTo>
                    <a:pt x="2552099" y="356725"/>
                  </a:lnTo>
                  <a:lnTo>
                    <a:pt x="2552099" y="183785"/>
                  </a:lnTo>
                </a:path>
              </a:pathLst>
            </a:custGeom>
            <a:noFill/>
            <a:ln w="19049">
              <a:solidFill>
                <a:srgbClr val="1F49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object 23"/>
            <p:cNvSpPr/>
            <p:nvPr/>
          </p:nvSpPr>
          <p:spPr>
            <a:xfrm>
              <a:off x="8425800" y="6115680"/>
              <a:ext cx="41400" cy="57240"/>
            </a:xfrm>
            <a:custGeom>
              <a:avLst/>
              <a:gdLst>
                <a:gd name="textAreaLeft" fmla="*/ 0 w 41400"/>
                <a:gd name="textAreaRight" fmla="*/ 43200 w 41400"/>
                <a:gd name="textAreaTop" fmla="*/ 0 h 57240"/>
                <a:gd name="textAreaBottom" fmla="*/ 59040 h 57240"/>
              </a:gdLst>
              <a:ahLst/>
              <a:cxnLst/>
              <a:rect l="textAreaLeft" t="textAreaTop" r="textAreaRight" b="textAreaBottom"/>
              <a:pathLst>
                <a:path w="43179" h="59054">
                  <a:moveTo>
                    <a:pt x="42846" y="58860"/>
                  </a:moveTo>
                  <a:lnTo>
                    <a:pt x="21423" y="37436"/>
                  </a:lnTo>
                  <a:lnTo>
                    <a:pt x="0" y="58860"/>
                  </a:lnTo>
                  <a:lnTo>
                    <a:pt x="21423" y="0"/>
                  </a:lnTo>
                  <a:lnTo>
                    <a:pt x="42846" y="58860"/>
                  </a:lnTo>
                  <a:close/>
                </a:path>
              </a:pathLst>
            </a:custGeom>
            <a:solidFill>
              <a:srgbClr val="1F49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object 24"/>
            <p:cNvSpPr/>
            <p:nvPr/>
          </p:nvSpPr>
          <p:spPr>
            <a:xfrm>
              <a:off x="8425800" y="6115680"/>
              <a:ext cx="41400" cy="57240"/>
            </a:xfrm>
            <a:custGeom>
              <a:avLst/>
              <a:gdLst>
                <a:gd name="textAreaLeft" fmla="*/ 0 w 41400"/>
                <a:gd name="textAreaRight" fmla="*/ 43200 w 41400"/>
                <a:gd name="textAreaTop" fmla="*/ 0 h 57240"/>
                <a:gd name="textAreaBottom" fmla="*/ 59040 h 57240"/>
              </a:gdLst>
              <a:ahLst/>
              <a:cxnLst/>
              <a:rect l="textAreaLeft" t="textAreaTop" r="textAreaRight" b="textAreaBottom"/>
              <a:pathLst>
                <a:path w="43179" h="59054">
                  <a:moveTo>
                    <a:pt x="21423" y="37436"/>
                  </a:moveTo>
                  <a:lnTo>
                    <a:pt x="42846" y="58860"/>
                  </a:lnTo>
                  <a:lnTo>
                    <a:pt x="21423" y="0"/>
                  </a:lnTo>
                  <a:lnTo>
                    <a:pt x="0" y="58860"/>
                  </a:lnTo>
                  <a:lnTo>
                    <a:pt x="21423" y="37436"/>
                  </a:lnTo>
                  <a:close/>
                </a:path>
              </a:pathLst>
            </a:custGeom>
            <a:noFill/>
            <a:ln w="19049">
              <a:solidFill>
                <a:srgbClr val="1F49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73" name="Picture 27"/>
          <p:cNvPicPr/>
          <p:nvPr/>
        </p:nvPicPr>
        <p:blipFill>
          <a:blip r:embed="rId8"/>
          <a:stretch/>
        </p:blipFill>
        <p:spPr>
          <a:xfrm>
            <a:off x="10923120" y="19800"/>
            <a:ext cx="1236600" cy="685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object 26"/>
          <p:cNvSpPr/>
          <p:nvPr/>
        </p:nvSpPr>
        <p:spPr>
          <a:xfrm>
            <a:off x="11768760" y="6470640"/>
            <a:ext cx="12276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400" b="0" u="none" spc="-51" strike="noStrike">
                <a:solidFill>
                  <a:srgbClr val="FFFFFF"/>
                </a:solidFill>
                <a:effectLst/>
                <a:uFillTx/>
                <a:latin typeface="Arial MT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14"/>
          <p:cNvPicPr/>
          <p:nvPr/>
        </p:nvPicPr>
        <p:blipFill>
          <a:blip r:embed="rId1"/>
          <a:stretch/>
        </p:blipFill>
        <p:spPr>
          <a:xfrm>
            <a:off x="18360" y="-12240"/>
            <a:ext cx="12159360" cy="686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sldNum" idx="22"/>
          </p:nvPr>
        </p:nvSpPr>
        <p:spPr>
          <a:xfrm>
            <a:off x="11634120" y="6487560"/>
            <a:ext cx="295560" cy="22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3816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26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38160" indent="0" algn="l">
              <a:lnSpc>
                <a:spcPts val="1644"/>
              </a:lnSpc>
              <a:buNone/>
              <a:tabLst>
                <a:tab pos="0" algn="l"/>
              </a:tabLst>
            </a:pPr>
            <a:fld id="{C994685E-DAD1-4C40-9D5A-767200A3A353}" type="slidenum">
              <a:rPr lang="en-US" sz="14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title"/>
          </p:nvPr>
        </p:nvSpPr>
        <p:spPr>
          <a:xfrm>
            <a:off x="657360" y="2689200"/>
            <a:ext cx="6518160" cy="69840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4400" b="1" u="none" spc="-201" strike="noStrike">
                <a:solidFill>
                  <a:srgbClr val="FFFFFF"/>
                </a:solidFill>
                <a:effectLst/>
                <a:uFillTx/>
                <a:latin typeface="Verdana"/>
              </a:rPr>
              <a:t>OpenShift</a:t>
            </a:r>
            <a:r>
              <a:rPr lang="en-US" sz="4400" b="1" u="none" spc="-204" strike="noStrike">
                <a:solidFill>
                  <a:srgbClr val="FFFFFF"/>
                </a:solidFill>
                <a:effectLst/>
                <a:uFillTx/>
                <a:latin typeface="Verdana"/>
              </a:rPr>
              <a:t> </a:t>
            </a:r>
            <a:r>
              <a:rPr lang="en-US" sz="4400" b="1" u="none" spc="-170" strike="noStrike">
                <a:solidFill>
                  <a:srgbClr val="FFFFFF"/>
                </a:solidFill>
                <a:effectLst/>
                <a:uFillTx/>
                <a:latin typeface="Verdana"/>
              </a:rPr>
              <a:t>Networking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8" name="object 3"/>
          <p:cNvSpPr/>
          <p:nvPr/>
        </p:nvSpPr>
        <p:spPr>
          <a:xfrm>
            <a:off x="298440" y="3581280"/>
            <a:ext cx="79160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OVN-Kubernetes </a:t>
            </a:r>
            <a:r>
              <a:rPr lang="en-US" sz="2000" b="0" u="none" spc="111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became</a:t>
            </a:r>
            <a:r>
              <a:rPr lang="en-US" sz="2000" b="0" u="none" spc="6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 </a:t>
            </a: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default</a:t>
            </a:r>
            <a:r>
              <a:rPr lang="en-US" sz="2000" b="0" u="none" spc="6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 </a:t>
            </a:r>
            <a:r>
              <a:rPr lang="en-US" sz="2000" b="0" u="none" spc="65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CNI</a:t>
            </a:r>
            <a:r>
              <a:rPr lang="en-US" sz="2000" b="0" u="none" spc="6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 </a:t>
            </a: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of</a:t>
            </a:r>
            <a:r>
              <a:rPr lang="en-US" sz="2000" b="0" u="none" spc="6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 </a:t>
            </a:r>
            <a:r>
              <a:rPr lang="en-US" sz="2000" b="0" u="none" spc="159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OCP</a:t>
            </a:r>
            <a:r>
              <a:rPr lang="en-US" sz="2000" b="0" u="none" spc="6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 </a:t>
            </a: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from</a:t>
            </a:r>
            <a:r>
              <a:rPr lang="en-US" sz="2000" b="0" u="none" spc="6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 </a:t>
            </a:r>
            <a:r>
              <a:rPr lang="en-US" sz="2000" b="0" u="none" spc="-215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4.12</a:t>
            </a:r>
            <a:r>
              <a:rPr lang="en-US" sz="2000" b="0" u="none" spc="6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 </a:t>
            </a:r>
            <a:r>
              <a:rPr lang="en-US" sz="2000" b="0" u="none" spc="-11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release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6"/>
          <p:cNvPicPr/>
          <p:nvPr/>
        </p:nvPicPr>
        <p:blipFill>
          <a:blip r:embed="rId1"/>
          <a:stretch/>
        </p:blipFill>
        <p:spPr>
          <a:xfrm rot="16200000">
            <a:off x="5846760" y="542880"/>
            <a:ext cx="480600" cy="1217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dt" idx="23"/>
          </p:nvPr>
        </p:nvSpPr>
        <p:spPr>
          <a:xfrm>
            <a:off x="5427360" y="6472080"/>
            <a:ext cx="1141920" cy="21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24120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defRPr>
            </a:lvl1pPr>
          </a:lstStyle>
          <a:p>
            <a:pPr marL="241200" indent="0" algn="l">
              <a:lnSpc>
                <a:spcPts val="1644"/>
              </a:lnSpc>
              <a:buNone/>
              <a:tabLst>
                <a:tab pos="0" algn="l"/>
              </a:tabLst>
            </a:pPr>
            <a:r>
              <a:rPr lang="en-U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VP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ldNum" idx="24"/>
          </p:nvPr>
        </p:nvSpPr>
        <p:spPr>
          <a:xfrm>
            <a:off x="11634120" y="6487560"/>
            <a:ext cx="295560" cy="22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3816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26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38160" indent="0" algn="l">
              <a:lnSpc>
                <a:spcPts val="1644"/>
              </a:lnSpc>
              <a:buNone/>
              <a:tabLst>
                <a:tab pos="0" algn="l"/>
              </a:tabLst>
            </a:pPr>
            <a:fld id="{6BC2B0FD-33B0-4162-8D13-BBDDEFBBD715}" type="slidenum">
              <a:rPr lang="en-US" sz="14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title"/>
          </p:nvPr>
        </p:nvSpPr>
        <p:spPr>
          <a:xfrm>
            <a:off x="685800" y="569160"/>
            <a:ext cx="5259240" cy="574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3600" b="0" u="none" spc="54" strike="noStrike">
                <a:solidFill>
                  <a:schemeClr val="dk2"/>
                </a:solidFill>
                <a:effectLst/>
                <a:uFillTx/>
                <a:latin typeface="Verdana"/>
              </a:rPr>
              <a:t>OpenShift</a:t>
            </a:r>
            <a:r>
              <a:rPr lang="en-US" sz="3600" b="0" u="none" spc="-261" strike="noStrike">
                <a:solidFill>
                  <a:schemeClr val="dk2"/>
                </a:solidFill>
                <a:effectLst/>
                <a:uFillTx/>
                <a:latin typeface="Verdana"/>
              </a:rPr>
              <a:t> </a:t>
            </a:r>
            <a:r>
              <a:rPr lang="en-US" sz="3600" b="0" u="none" spc="79" strike="noStrike">
                <a:solidFill>
                  <a:schemeClr val="dk2"/>
                </a:solidFill>
                <a:effectLst/>
                <a:uFillTx/>
                <a:latin typeface="Verdana"/>
              </a:rPr>
              <a:t>Networking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83" name="object 3"/>
          <p:cNvPicPr/>
          <p:nvPr/>
        </p:nvPicPr>
        <p:blipFill>
          <a:blip r:embed="rId2"/>
          <a:stretch/>
        </p:blipFill>
        <p:spPr>
          <a:xfrm>
            <a:off x="6732720" y="1828800"/>
            <a:ext cx="5153760" cy="373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object 4"/>
          <p:cNvSpPr/>
          <p:nvPr/>
        </p:nvSpPr>
        <p:spPr>
          <a:xfrm>
            <a:off x="25200" y="1600200"/>
            <a:ext cx="6706800" cy="28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441360" indent="-428760">
              <a:lnSpc>
                <a:spcPct val="150000"/>
              </a:lnSpc>
              <a:spcBef>
                <a:spcPts val="2296"/>
              </a:spcBef>
              <a:buClr>
                <a:srgbClr val="000000"/>
              </a:buClr>
              <a:buFont typeface="MS PGothic"/>
              <a:buChar char="➔"/>
              <a:tabLst>
                <a:tab pos="441360" algn="l"/>
              </a:tabLst>
            </a:pPr>
            <a:r>
              <a:rPr lang="en-US" sz="1600" b="0" u="none" spc="5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OpenShift</a:t>
            </a:r>
            <a:r>
              <a:rPr lang="en-US" sz="1600" b="0" u="none" spc="4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implements</a:t>
            </a:r>
            <a:r>
              <a:rPr lang="en-US" sz="1600" b="0" u="none" spc="4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5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it’s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networking</a:t>
            </a:r>
            <a:r>
              <a:rPr lang="en-US" sz="1600" b="0" u="none" spc="4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fabric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using</a:t>
            </a:r>
            <a:r>
              <a:rPr lang="en-US" sz="1600" b="0" u="none" spc="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the</a:t>
            </a:r>
            <a:r>
              <a:rPr lang="en-US" sz="1600" b="0" u="none" spc="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C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luster</a:t>
            </a:r>
            <a:r>
              <a:rPr lang="en-US" sz="1600" b="0" u="none" spc="2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N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etwork</a:t>
            </a:r>
            <a:r>
              <a:rPr lang="en-US" sz="1600" b="0" u="none" spc="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O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perator</a:t>
            </a:r>
            <a:r>
              <a:rPr lang="en-US" sz="1600" b="0" u="none" spc="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4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(CNO)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0640" indent="-428040">
              <a:lnSpc>
                <a:spcPct val="100000"/>
              </a:lnSpc>
              <a:spcBef>
                <a:spcPts val="1959"/>
              </a:spcBef>
              <a:buClr>
                <a:srgbClr val="000000"/>
              </a:buClr>
              <a:buFont typeface="MS PGothic"/>
              <a:buChar char="➔"/>
              <a:tabLst>
                <a:tab pos="440640" algn="l"/>
              </a:tabLst>
            </a:pPr>
            <a:r>
              <a:rPr lang="en-US" sz="1600" b="0" u="none" spc="79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CNO</a:t>
            </a:r>
            <a:r>
              <a:rPr lang="en-US" sz="1600" b="0" u="none" spc="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Supports</a:t>
            </a:r>
            <a:r>
              <a:rPr lang="en-US" sz="1600" b="0" u="none" spc="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119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2</a:t>
            </a:r>
            <a:r>
              <a:rPr lang="en-US" sz="1600" b="0" u="none" spc="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4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network</a:t>
            </a:r>
            <a:r>
              <a:rPr lang="en-US" sz="1600" b="0" u="none" spc="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types: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97840" lvl="1" indent="-349920">
              <a:lnSpc>
                <a:spcPct val="100000"/>
              </a:lnSpc>
              <a:spcBef>
                <a:spcPts val="961"/>
              </a:spcBef>
              <a:buClr>
                <a:srgbClr val="000000"/>
              </a:buClr>
              <a:buFont typeface="OpenSymbol"/>
              <a:buChar char="◆"/>
              <a:tabLst>
                <a:tab pos="897840" algn="l"/>
              </a:tabLst>
            </a:pPr>
            <a:r>
              <a:rPr lang="en-US" sz="1600" b="0" u="none" spc="5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OpenShift</a:t>
            </a:r>
            <a:r>
              <a:rPr lang="en-US" sz="1600" b="0" u="none" spc="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10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SDN</a:t>
            </a:r>
            <a:r>
              <a:rPr lang="en-US" sz="1600" b="0" u="none" spc="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31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-</a:t>
            </a:r>
            <a:r>
              <a:rPr lang="en-US" sz="1600" b="0" u="none" spc="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legacy</a:t>
            </a:r>
            <a:r>
              <a:rPr lang="en-US" sz="1600" b="0" u="none" spc="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default</a:t>
            </a:r>
            <a:r>
              <a:rPr lang="en-US" sz="1600" b="0" u="none" spc="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plugin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98560" lvl="1" indent="-350640">
              <a:lnSpc>
                <a:spcPct val="150000"/>
              </a:lnSpc>
              <a:buClr>
                <a:srgbClr val="000000"/>
              </a:buClr>
              <a:buFont typeface="OpenSymbol"/>
              <a:buChar char="◆"/>
              <a:tabLst>
                <a:tab pos="8985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OVN-Kubernetes</a:t>
            </a:r>
            <a:r>
              <a:rPr lang="en-US" sz="1600" b="0" u="none" spc="113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31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-</a:t>
            </a:r>
            <a:r>
              <a:rPr lang="en-US" sz="1600" b="0" u="none" spc="119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current</a:t>
            </a:r>
            <a:r>
              <a:rPr lang="en-US" sz="1600" b="0" u="none" spc="119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default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plugin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since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17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4.12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99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OCP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1360" indent="-42876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MS PGothic"/>
              <a:buChar char="➔"/>
              <a:tabLst>
                <a:tab pos="441360" algn="l"/>
              </a:tabLst>
            </a:pPr>
            <a:r>
              <a:rPr lang="en-US" sz="1600" b="0" u="heavy" strike="noStrike">
                <a:solidFill>
                  <a:srgbClr val="0000FF"/>
                </a:solidFill>
                <a:effectLst/>
                <a:uFill>
                  <a:solidFill>
                    <a:srgbClr val="0000FF"/>
                  </a:solidFill>
                </a:uFill>
                <a:latin typeface="Lucida Sans Unicode"/>
                <a:hlinkClick r:id="rId3"/>
              </a:rPr>
              <a:t>Multus</a:t>
            </a:r>
            <a:r>
              <a:rPr lang="en-US" sz="1600" b="0" u="none" spc="-11" strike="noStrike">
                <a:solidFill>
                  <a:srgbClr val="0000FF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4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is</a:t>
            </a: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a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8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meta</a:t>
            </a: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CNI</a:t>
            </a: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plugin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that</a:t>
            </a: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allows</a:t>
            </a: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pods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to</a:t>
            </a:r>
            <a:r>
              <a:rPr lang="en-US" sz="1600" b="0" u="none" spc="4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have</a:t>
            </a:r>
            <a:r>
              <a:rPr lang="en-US" sz="1600" b="0" u="none" spc="4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multiple</a:t>
            </a:r>
            <a:r>
              <a:rPr lang="en-US" sz="1600" b="0" u="none" spc="4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interfaces</a:t>
            </a:r>
            <a:r>
              <a:rPr lang="en-US" sz="1600" b="0" u="none" spc="4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by</a:t>
            </a:r>
            <a:r>
              <a:rPr lang="en-US" sz="1600" b="0" u="none" spc="4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interfacing </a:t>
            </a: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with</a:t>
            </a:r>
            <a:r>
              <a:rPr lang="en-US" sz="1600" b="0" u="none" spc="-6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more</a:t>
            </a:r>
            <a:r>
              <a:rPr lang="en-US" sz="1600" b="0" u="none" spc="-6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than</a:t>
            </a:r>
            <a:r>
              <a:rPr lang="en-US" sz="1600" b="0" u="none" spc="-6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one</a:t>
            </a:r>
            <a:r>
              <a:rPr lang="en-US" sz="1600" b="0" u="none" spc="-6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type</a:t>
            </a:r>
            <a:r>
              <a:rPr lang="en-US" sz="1600" b="0" u="none" spc="-6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of</a:t>
            </a:r>
            <a:r>
              <a:rPr lang="en-US" sz="1600" b="0" u="none" spc="-6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CNI</a:t>
            </a:r>
            <a:r>
              <a:rPr lang="en-US" sz="1600" b="0" u="none" spc="-6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plugin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2279520" y="4635360"/>
            <a:ext cx="6089400" cy="17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40"/>
          <p:cNvPicPr/>
          <p:nvPr/>
        </p:nvPicPr>
        <p:blipFill>
          <a:blip r:embed="rId1"/>
          <a:stretch/>
        </p:blipFill>
        <p:spPr>
          <a:xfrm rot="16200000">
            <a:off x="5727240" y="444960"/>
            <a:ext cx="719640" cy="121773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87" name="object 2"/>
          <p:cNvGraphicFramePr/>
          <p:nvPr/>
        </p:nvGraphicFramePr>
        <p:xfrm>
          <a:off x="876240" y="1924560"/>
          <a:ext cx="10445760" cy="1362600"/>
        </p:xfrm>
        <a:graphic>
          <a:graphicData uri="http://schemas.openxmlformats.org/drawingml/2006/table">
            <a:tbl>
              <a:tblPr/>
              <a:tblGrid>
                <a:gridCol w="593640"/>
                <a:gridCol w="1095120"/>
                <a:gridCol w="1227960"/>
                <a:gridCol w="1163880"/>
                <a:gridCol w="1133280"/>
                <a:gridCol w="1194120"/>
                <a:gridCol w="1156320"/>
                <a:gridCol w="1158120"/>
                <a:gridCol w="1156320"/>
                <a:gridCol w="567360"/>
              </a:tblGrid>
              <a:tr h="630360">
                <a:tc gridSpan="10">
                  <a:txBody>
                    <a:bodyPr lIns="0" tIns="158400" r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lang="en-US" sz="1800" b="1" u="none" spc="-11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OPENSHIFT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15840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60360">
                <a:tc gridSpan="10">
                  <a:txBody>
                    <a:bodyPr lIns="0" tIns="108360" r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856"/>
                        </a:spcBef>
                      </a:pPr>
                      <a:r>
                        <a:rPr lang="en-US" sz="1000" b="1" u="none" spc="-26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KUBERNETES</a:t>
                      </a:r>
                      <a:r>
                        <a:rPr lang="en-US" sz="1000" b="1" u="none" spc="-14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en-US" sz="1000" b="1" u="none" spc="-26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CNI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1083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71880">
                <a:tc>
                  <a:txBody>
                    <a:bodyPr lIns="0" tIns="0" rIns="0" bIns="0" anchor="t">
                      <a:noAutofit/>
                    </a:bodyPr>
                    <a:p>
                      <a:endParaRPr lang="en-US" sz="16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0" marR="0" marT="0" marB="0">
                    <a:lnL w="12240">
                      <a:noFill/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t">
                      <a:noAutofit/>
                    </a:bodyPr>
                    <a:p>
                      <a:endParaRPr lang="en-US" sz="16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0" marR="0" marT="0" marB="0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t">
                      <a:noAutofit/>
                    </a:bodyPr>
                    <a:p>
                      <a:endParaRPr lang="en-US" sz="16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0" marR="0" marT="0" marB="0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t">
                      <a:noAutofit/>
                    </a:bodyPr>
                    <a:p>
                      <a:endParaRPr lang="en-US" sz="16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0" marR="0" marT="0" marB="0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t">
                      <a:noAutofit/>
                    </a:bodyPr>
                    <a:p>
                      <a:endParaRPr lang="en-US" sz="16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0" marR="0" marT="0" marB="0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t">
                      <a:noAutofit/>
                    </a:bodyPr>
                    <a:p>
                      <a:endParaRPr lang="en-US" sz="16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0" marR="0" marT="0" marB="0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t">
                      <a:noAutofit/>
                    </a:bodyPr>
                    <a:p>
                      <a:endParaRPr lang="en-US" sz="16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0" marR="0" marT="0" marB="0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t">
                      <a:noAutofit/>
                    </a:bodyPr>
                    <a:p>
                      <a:endParaRPr lang="en-US" sz="16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0" marR="0" marT="0" marB="0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t">
                      <a:noAutofit/>
                    </a:bodyPr>
                    <a:p>
                      <a:endParaRPr lang="en-US" sz="16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0" marR="0" marT="0" marB="0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t">
                      <a:noAutofit/>
                    </a:bodyPr>
                    <a:p>
                      <a:endParaRPr lang="en-US" sz="16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0" marR="0" marT="0" marB="0">
                    <a:lnL w="9360">
                      <a:solidFill>
                        <a:srgbClr val="66666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8" name="object 3"/>
          <p:cNvGraphicFramePr/>
          <p:nvPr/>
        </p:nvGraphicFramePr>
        <p:xfrm>
          <a:off x="3198240" y="3345120"/>
          <a:ext cx="8120520" cy="832320"/>
        </p:xfrm>
        <a:graphic>
          <a:graphicData uri="http://schemas.openxmlformats.org/drawingml/2006/table">
            <a:tbl>
              <a:tblPr/>
              <a:tblGrid>
                <a:gridCol w="1141560"/>
                <a:gridCol w="1171440"/>
                <a:gridCol w="1171440"/>
                <a:gridCol w="1172160"/>
                <a:gridCol w="1165680"/>
                <a:gridCol w="1161360"/>
                <a:gridCol w="1137240"/>
              </a:tblGrid>
              <a:tr h="832320">
                <a:tc>
                  <a:txBody>
                    <a:bodyPr lIns="0" tIns="65160" rIns="0" bIns="0" anchor="t">
                      <a:noAutofit/>
                    </a:bodyPr>
                    <a:p>
                      <a:pPr marL="295200" indent="-7560" algn="just">
                        <a:lnSpc>
                          <a:spcPct val="100000"/>
                        </a:lnSpc>
                        <a:spcBef>
                          <a:spcPts val="516"/>
                        </a:spcBef>
                        <a:tabLst>
                          <a:tab pos="0" algn="l"/>
                        </a:tabLst>
                      </a:pPr>
                      <a:r>
                        <a:rPr lang="en-US" sz="1500" b="0" u="none" spc="-20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MT"/>
                        </a:rPr>
                        <a:t>Tigera Calico Core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65160" marB="0">
                    <a:lnL w="12240">
                      <a:noFill/>
                      <a:prstDash val="solid"/>
                    </a:lnL>
                    <a:lnR w="7632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3E9B35"/>
                    </a:solidFill>
                  </a:tcPr>
                </a:tc>
                <a:tc>
                  <a:txBody>
                    <a:bodyPr lIns="0" tIns="74880" r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78560">
                        <a:lnSpc>
                          <a:spcPct val="100000"/>
                        </a:lnSpc>
                      </a:pPr>
                      <a:r>
                        <a:rPr lang="en-US" sz="1500" b="0" u="none" spc="-26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MT"/>
                        </a:rPr>
                        <a:t>Cisco</a:t>
                      </a:r>
                      <a:r>
                        <a:rPr lang="en-US" sz="1500" b="0" u="none" spc="-60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MT"/>
                        </a:rPr>
                        <a:t> </a:t>
                      </a:r>
                      <a:r>
                        <a:rPr lang="en-US" sz="1500" b="0" u="none" spc="-26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MT"/>
                        </a:rPr>
                        <a:t>ACI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74880" marB="0">
                    <a:lnL w="76320">
                      <a:solidFill>
                        <a:srgbClr val="FFFFFF"/>
                      </a:solidFill>
                      <a:prstDash val="solid"/>
                    </a:lnL>
                    <a:lnR w="7632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3E9B35"/>
                    </a:solidFill>
                  </a:tcPr>
                </a:tc>
                <a:tc>
                  <a:txBody>
                    <a:bodyPr lIns="0" tIns="179640" rIns="0" bIns="0" anchor="t">
                      <a:noAutofit/>
                    </a:bodyPr>
                    <a:p>
                      <a:pPr marL="385920" indent="-145440">
                        <a:lnSpc>
                          <a:spcPct val="100000"/>
                        </a:lnSpc>
                        <a:spcBef>
                          <a:spcPts val="1414"/>
                        </a:spcBef>
                        <a:tabLst>
                          <a:tab pos="0" algn="l"/>
                        </a:tabLst>
                      </a:pPr>
                      <a:r>
                        <a:rPr lang="en-US" sz="1500" b="0" u="none" spc="-31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MT"/>
                        </a:rPr>
                        <a:t>VMware </a:t>
                      </a:r>
                      <a:r>
                        <a:rPr lang="en-US" sz="1500" b="0" u="none" spc="-26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MT"/>
                        </a:rPr>
                        <a:t>NCP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179640" marB="0">
                    <a:lnL w="76320">
                      <a:solidFill>
                        <a:srgbClr val="FFFFFF"/>
                      </a:solidFill>
                      <a:prstDash val="solid"/>
                    </a:lnL>
                    <a:lnR w="7632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3E9B35"/>
                    </a:solidFill>
                  </a:tcPr>
                </a:tc>
                <a:tc>
                  <a:txBody>
                    <a:bodyPr lIns="0" tIns="104760" rIns="0" bIns="0" anchor="t">
                      <a:noAutofit/>
                    </a:bodyPr>
                    <a:p>
                      <a:pPr marL="124560" indent="-720" algn="ctr">
                        <a:lnSpc>
                          <a:spcPts val="1650"/>
                        </a:lnSpc>
                        <a:spcBef>
                          <a:spcPts val="825"/>
                        </a:spcBef>
                        <a:tabLst>
                          <a:tab pos="0" algn="l"/>
                        </a:tabLst>
                      </a:pPr>
                      <a:r>
                        <a:rPr lang="en-US" sz="1400" b="0" u="none" spc="-11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MT"/>
                        </a:rPr>
                        <a:t>Isovalent Cilium Community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104760" marB="0">
                    <a:lnL w="76320">
                      <a:solidFill>
                        <a:srgbClr val="FFFFFF"/>
                      </a:solidFill>
                      <a:prstDash val="solid"/>
                    </a:lnL>
                    <a:lnR w="7632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3E9B35"/>
                    </a:solidFill>
                  </a:tcPr>
                </a:tc>
                <a:tc>
                  <a:txBody>
                    <a:bodyPr lIns="0" tIns="179640" rIns="0" bIns="0" anchor="t">
                      <a:noAutofit/>
                    </a:bodyPr>
                    <a:p>
                      <a:pPr marL="304200" indent="-63000">
                        <a:lnSpc>
                          <a:spcPct val="100000"/>
                        </a:lnSpc>
                        <a:spcBef>
                          <a:spcPts val="1414"/>
                        </a:spcBef>
                        <a:tabLst>
                          <a:tab pos="0" algn="l"/>
                        </a:tabLst>
                      </a:pPr>
                      <a:r>
                        <a:rPr lang="en-US" sz="1500" b="0" u="none" spc="-31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MT"/>
                        </a:rPr>
                        <a:t>VMware </a:t>
                      </a:r>
                      <a:r>
                        <a:rPr lang="en-US" sz="1500" b="0" u="none" spc="-11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MT"/>
                        </a:rPr>
                        <a:t>Antrea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179640" marB="0">
                    <a:lnL w="76320">
                      <a:solidFill>
                        <a:srgbClr val="FFFFFF"/>
                      </a:solidFill>
                      <a:prstDash val="solid"/>
                    </a:lnL>
                    <a:lnR w="5688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3E9B35"/>
                    </a:solidFill>
                  </a:tcPr>
                </a:tc>
                <a:tc>
                  <a:txBody>
                    <a:bodyPr lIns="0" tIns="179640" rIns="0" bIns="0" anchor="t">
                      <a:noAutofit/>
                    </a:bodyPr>
                    <a:p>
                      <a:pPr marL="390600" indent="-134640">
                        <a:lnSpc>
                          <a:spcPct val="100000"/>
                        </a:lnSpc>
                        <a:spcBef>
                          <a:spcPts val="1414"/>
                        </a:spcBef>
                        <a:tabLst>
                          <a:tab pos="0" algn="l"/>
                        </a:tabLst>
                      </a:pPr>
                      <a:r>
                        <a:rPr lang="en-US" sz="1500" b="0" u="none" spc="-11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MT"/>
                        </a:rPr>
                        <a:t>Juniper </a:t>
                      </a:r>
                      <a:r>
                        <a:rPr lang="en-US" sz="1500" b="0" u="none" spc="-26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MT"/>
                        </a:rPr>
                        <a:t>CN2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179640" marB="0">
                    <a:lnL w="56880">
                      <a:solidFill>
                        <a:srgbClr val="FFFFFF"/>
                      </a:solidFill>
                      <a:prstDash val="solid"/>
                    </a:lnL>
                    <a:lnR w="5688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3E9B35"/>
                    </a:solidFill>
                  </a:tcPr>
                </a:tc>
                <a:tc>
                  <a:txBody>
                    <a:bodyPr lIns="0" tIns="104760" rIns="0" bIns="0" anchor="t">
                      <a:noAutofit/>
                    </a:bodyPr>
                    <a:p>
                      <a:pPr marL="137880" indent="-720" algn="ctr">
                        <a:lnSpc>
                          <a:spcPts val="1650"/>
                        </a:lnSpc>
                        <a:spcBef>
                          <a:spcPts val="825"/>
                        </a:spcBef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MT"/>
                        </a:rPr>
                        <a:t>kuryr-</a:t>
                      </a:r>
                      <a:r>
                        <a:rPr lang="en-US" sz="1400" b="0" u="none" spc="-11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MT"/>
                        </a:rPr>
                        <a:t>kubernetes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5920" algn="ctr">
                        <a:lnSpc>
                          <a:spcPts val="975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pc="-51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MT"/>
                        </a:rPr>
                        <a:t>2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104760" marB="0">
                    <a:lnL w="568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820000"/>
                    </a:solidFill>
                  </a:tcPr>
                </a:tc>
              </a:tr>
            </a:tbl>
          </a:graphicData>
        </a:graphic>
      </p:graphicFrame>
      <p:grpSp>
        <p:nvGrpSpPr>
          <p:cNvPr id="89" name="object 4"/>
          <p:cNvGrpSpPr/>
          <p:nvPr/>
        </p:nvGrpSpPr>
        <p:grpSpPr>
          <a:xfrm>
            <a:off x="4941360" y="3288600"/>
            <a:ext cx="29880" cy="42120"/>
            <a:chOff x="4941360" y="3288600"/>
            <a:chExt cx="29880" cy="42120"/>
          </a:xfrm>
        </p:grpSpPr>
        <p:sp>
          <p:nvSpPr>
            <p:cNvPr id="90" name="object 5"/>
            <p:cNvSpPr/>
            <p:nvPr/>
          </p:nvSpPr>
          <p:spPr>
            <a:xfrm>
              <a:off x="4941360" y="328860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66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object 6"/>
            <p:cNvSpPr/>
            <p:nvPr/>
          </p:nvSpPr>
          <p:spPr>
            <a:xfrm>
              <a:off x="4941360" y="328860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6666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2" name="object 7"/>
          <p:cNvGrpSpPr/>
          <p:nvPr/>
        </p:nvGrpSpPr>
        <p:grpSpPr>
          <a:xfrm>
            <a:off x="7268760" y="3288600"/>
            <a:ext cx="29880" cy="42120"/>
            <a:chOff x="7268760" y="3288600"/>
            <a:chExt cx="29880" cy="42120"/>
          </a:xfrm>
        </p:grpSpPr>
        <p:sp>
          <p:nvSpPr>
            <p:cNvPr id="93" name="object 8"/>
            <p:cNvSpPr/>
            <p:nvPr/>
          </p:nvSpPr>
          <p:spPr>
            <a:xfrm>
              <a:off x="7268760" y="328860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66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object 9"/>
            <p:cNvSpPr/>
            <p:nvPr/>
          </p:nvSpPr>
          <p:spPr>
            <a:xfrm>
              <a:off x="7268760" y="328860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6666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5" name="object 10"/>
          <p:cNvGrpSpPr/>
          <p:nvPr/>
        </p:nvGrpSpPr>
        <p:grpSpPr>
          <a:xfrm>
            <a:off x="8424720" y="3288600"/>
            <a:ext cx="29880" cy="42120"/>
            <a:chOff x="8424720" y="3288600"/>
            <a:chExt cx="29880" cy="42120"/>
          </a:xfrm>
        </p:grpSpPr>
        <p:sp>
          <p:nvSpPr>
            <p:cNvPr id="96" name="object 11"/>
            <p:cNvSpPr/>
            <p:nvPr/>
          </p:nvSpPr>
          <p:spPr>
            <a:xfrm>
              <a:off x="8424720" y="328860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66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object 12"/>
            <p:cNvSpPr/>
            <p:nvPr/>
          </p:nvSpPr>
          <p:spPr>
            <a:xfrm>
              <a:off x="8424720" y="328860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6666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8" name="object 13"/>
          <p:cNvSpPr/>
          <p:nvPr/>
        </p:nvSpPr>
        <p:spPr>
          <a:xfrm>
            <a:off x="857880" y="3345120"/>
            <a:ext cx="1110240" cy="831240"/>
          </a:xfrm>
          <a:custGeom>
            <a:avLst/>
            <a:gdLst>
              <a:gd name="textAreaLeft" fmla="*/ 0 w 1110240"/>
              <a:gd name="textAreaRight" fmla="*/ 1112040 w 1110240"/>
              <a:gd name="textAreaTop" fmla="*/ 0 h 831240"/>
              <a:gd name="textAreaBottom" fmla="*/ 833040 h 831240"/>
            </a:gdLst>
            <a:ahLst/>
            <a:cxnLst/>
            <a:rect l="textAreaLeft" t="textAreaTop" r="textAreaRight" b="textAreaBottom"/>
            <a:pathLst>
              <a:path w="1111885" h="833120">
                <a:moveTo>
                  <a:pt x="1111500" y="832499"/>
                </a:moveTo>
                <a:lnTo>
                  <a:pt x="0" y="832499"/>
                </a:lnTo>
                <a:lnTo>
                  <a:pt x="0" y="0"/>
                </a:lnTo>
                <a:lnTo>
                  <a:pt x="1111500" y="0"/>
                </a:lnTo>
                <a:lnTo>
                  <a:pt x="1111500" y="832499"/>
                </a:lnTo>
                <a:close/>
              </a:path>
            </a:pathLst>
          </a:custGeom>
          <a:solidFill>
            <a:srgbClr val="3E9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object 14"/>
          <p:cNvSpPr/>
          <p:nvPr/>
        </p:nvSpPr>
        <p:spPr>
          <a:xfrm>
            <a:off x="1134720" y="3512520"/>
            <a:ext cx="55620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500" b="0" u="none" spc="-20" strike="noStrike">
                <a:solidFill>
                  <a:srgbClr val="FFFFFF"/>
                </a:solidFill>
                <a:effectLst/>
                <a:uFillTx/>
                <a:latin typeface="Arial MT"/>
              </a:rPr>
              <a:t>OVNK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0" name="object 15"/>
          <p:cNvGrpSpPr/>
          <p:nvPr/>
        </p:nvGrpSpPr>
        <p:grpSpPr>
          <a:xfrm>
            <a:off x="1454040" y="3288600"/>
            <a:ext cx="29880" cy="42120"/>
            <a:chOff x="1454040" y="3288600"/>
            <a:chExt cx="29880" cy="42120"/>
          </a:xfrm>
        </p:grpSpPr>
        <p:sp>
          <p:nvSpPr>
            <p:cNvPr id="101" name="object 16"/>
            <p:cNvSpPr/>
            <p:nvPr/>
          </p:nvSpPr>
          <p:spPr>
            <a:xfrm>
              <a:off x="1454040" y="328860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66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object 17"/>
            <p:cNvSpPr/>
            <p:nvPr/>
          </p:nvSpPr>
          <p:spPr>
            <a:xfrm>
              <a:off x="1454040" y="328860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6666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3" name="object 18"/>
          <p:cNvSpPr/>
          <p:nvPr/>
        </p:nvSpPr>
        <p:spPr>
          <a:xfrm>
            <a:off x="992880" y="3897360"/>
            <a:ext cx="882720" cy="187560"/>
          </a:xfrm>
          <a:prstGeom prst="rect">
            <a:avLst/>
          </a:prstGeom>
          <a:solidFill>
            <a:srgbClr val="B6D7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40" rIns="0" bIns="0" anchor="t">
            <a:spAutoFit/>
          </a:bodyPr>
          <a:p>
            <a:pPr marL="118080">
              <a:lnSpc>
                <a:spcPct val="100000"/>
              </a:lnSpc>
              <a:spcBef>
                <a:spcPts val="40"/>
              </a:spcBef>
            </a:pPr>
            <a:r>
              <a:rPr lang="en-US" sz="1200" b="0" u="none" spc="-11" strike="noStrike">
                <a:solidFill>
                  <a:srgbClr val="37761C"/>
                </a:solidFill>
                <a:effectLst/>
                <a:uFillTx/>
                <a:latin typeface="Arial MT"/>
              </a:rPr>
              <a:t>DEFAULT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object 19"/>
          <p:cNvSpPr/>
          <p:nvPr/>
        </p:nvSpPr>
        <p:spPr>
          <a:xfrm>
            <a:off x="2021400" y="3345120"/>
            <a:ext cx="1110240" cy="831240"/>
          </a:xfrm>
          <a:custGeom>
            <a:avLst/>
            <a:gdLst>
              <a:gd name="textAreaLeft" fmla="*/ 0 w 1110240"/>
              <a:gd name="textAreaRight" fmla="*/ 1112040 w 1110240"/>
              <a:gd name="textAreaTop" fmla="*/ 0 h 831240"/>
              <a:gd name="textAreaBottom" fmla="*/ 833040 h 831240"/>
            </a:gdLst>
            <a:ahLst/>
            <a:cxnLst/>
            <a:rect l="textAreaLeft" t="textAreaTop" r="textAreaRight" b="textAreaBottom"/>
            <a:pathLst>
              <a:path w="1111885" h="833120">
                <a:moveTo>
                  <a:pt x="1111499" y="832499"/>
                </a:moveTo>
                <a:lnTo>
                  <a:pt x="0" y="832499"/>
                </a:lnTo>
                <a:lnTo>
                  <a:pt x="0" y="0"/>
                </a:lnTo>
                <a:lnTo>
                  <a:pt x="1111499" y="0"/>
                </a:lnTo>
                <a:lnTo>
                  <a:pt x="1111499" y="832499"/>
                </a:lnTo>
                <a:close/>
              </a:path>
            </a:pathLst>
          </a:custGeom>
          <a:solidFill>
            <a:srgbClr val="3E9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object 20"/>
          <p:cNvSpPr/>
          <p:nvPr/>
        </p:nvSpPr>
        <p:spPr>
          <a:xfrm>
            <a:off x="2125080" y="3512520"/>
            <a:ext cx="901800" cy="4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256680" indent="-24444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150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OpenShift </a:t>
            </a:r>
            <a:r>
              <a:rPr lang="en-US" sz="1500" b="0" u="none" spc="-26" strike="noStrike">
                <a:solidFill>
                  <a:srgbClr val="FFFFFF"/>
                </a:solidFill>
                <a:effectLst/>
                <a:uFillTx/>
                <a:latin typeface="Arial MT"/>
              </a:rPr>
              <a:t>SDN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6" name="object 21"/>
          <p:cNvGrpSpPr/>
          <p:nvPr/>
        </p:nvGrpSpPr>
        <p:grpSpPr>
          <a:xfrm>
            <a:off x="2549520" y="3288600"/>
            <a:ext cx="29880" cy="42120"/>
            <a:chOff x="2549520" y="3288600"/>
            <a:chExt cx="29880" cy="42120"/>
          </a:xfrm>
        </p:grpSpPr>
        <p:sp>
          <p:nvSpPr>
            <p:cNvPr id="107" name="object 22"/>
            <p:cNvSpPr/>
            <p:nvPr/>
          </p:nvSpPr>
          <p:spPr>
            <a:xfrm>
              <a:off x="2549520" y="328860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66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object 23"/>
            <p:cNvSpPr/>
            <p:nvPr/>
          </p:nvSpPr>
          <p:spPr>
            <a:xfrm>
              <a:off x="2549520" y="328860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6666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9" name="object 24"/>
          <p:cNvGrpSpPr/>
          <p:nvPr/>
        </p:nvGrpSpPr>
        <p:grpSpPr>
          <a:xfrm>
            <a:off x="9582840" y="3288600"/>
            <a:ext cx="29880" cy="42120"/>
            <a:chOff x="9582840" y="3288600"/>
            <a:chExt cx="29880" cy="42120"/>
          </a:xfrm>
        </p:grpSpPr>
        <p:sp>
          <p:nvSpPr>
            <p:cNvPr id="110" name="object 25"/>
            <p:cNvSpPr/>
            <p:nvPr/>
          </p:nvSpPr>
          <p:spPr>
            <a:xfrm>
              <a:off x="9582840" y="328860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66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object 26"/>
            <p:cNvSpPr/>
            <p:nvPr/>
          </p:nvSpPr>
          <p:spPr>
            <a:xfrm>
              <a:off x="9582840" y="328860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6666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2" name="object 27"/>
          <p:cNvGrpSpPr/>
          <p:nvPr/>
        </p:nvGrpSpPr>
        <p:grpSpPr>
          <a:xfrm>
            <a:off x="3777480" y="3288600"/>
            <a:ext cx="29880" cy="42120"/>
            <a:chOff x="3777480" y="3288600"/>
            <a:chExt cx="29880" cy="42120"/>
          </a:xfrm>
        </p:grpSpPr>
        <p:sp>
          <p:nvSpPr>
            <p:cNvPr id="113" name="object 28"/>
            <p:cNvSpPr/>
            <p:nvPr/>
          </p:nvSpPr>
          <p:spPr>
            <a:xfrm>
              <a:off x="3777480" y="328860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66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object 29"/>
            <p:cNvSpPr/>
            <p:nvPr/>
          </p:nvSpPr>
          <p:spPr>
            <a:xfrm>
              <a:off x="3777480" y="328860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6666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5" name="object 30"/>
          <p:cNvSpPr/>
          <p:nvPr/>
        </p:nvSpPr>
        <p:spPr>
          <a:xfrm>
            <a:off x="4382640" y="4917240"/>
            <a:ext cx="334800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47240" rIns="0" bIns="0" anchor="t">
            <a:spAutoFit/>
          </a:bodyPr>
          <a:p>
            <a:pPr marL="12600">
              <a:lnSpc>
                <a:spcPct val="100000"/>
              </a:lnSpc>
              <a:spcBef>
                <a:spcPts val="1159"/>
              </a:spcBef>
            </a:pPr>
            <a:r>
              <a:rPr lang="en-US" sz="1700" b="0" u="heavy" strike="noStrike">
                <a:solidFill>
                  <a:srgbClr val="0000FF"/>
                </a:solidFill>
                <a:effectLst/>
                <a:uFill>
                  <a:solidFill>
                    <a:srgbClr val="EE0000"/>
                  </a:solidFill>
                </a:uFill>
                <a:latin typeface="Lucida Sans Unicode"/>
                <a:hlinkClick r:id="rId2"/>
              </a:rPr>
              <a:t>Interoperability</a:t>
            </a:r>
            <a:r>
              <a:rPr lang="en-US" sz="1700" b="0" u="heavy" spc="65" strike="noStrike">
                <a:solidFill>
                  <a:srgbClr val="0000FF"/>
                </a:solidFill>
                <a:effectLst/>
                <a:uFill>
                  <a:solidFill>
                    <a:srgbClr val="EE0000"/>
                  </a:solidFill>
                </a:uFill>
                <a:latin typeface="Lucida Sans Unicode"/>
                <a:hlinkClick r:id="rId3"/>
              </a:rPr>
              <a:t> </a:t>
            </a:r>
            <a:r>
              <a:rPr lang="en-US" sz="1700" b="0" u="heavy" spc="60" strike="noStrike">
                <a:solidFill>
                  <a:srgbClr val="0000FF"/>
                </a:solidFill>
                <a:effectLst/>
                <a:uFill>
                  <a:solidFill>
                    <a:srgbClr val="EE0000"/>
                  </a:solidFill>
                </a:uFill>
                <a:latin typeface="Lucida Sans Unicode"/>
                <a:hlinkClick r:id="rId4"/>
              </a:rPr>
              <a:t>Support</a:t>
            </a:r>
            <a:r>
              <a:rPr lang="en-US" sz="1700" b="0" u="heavy" spc="71" strike="noStrike">
                <a:solidFill>
                  <a:srgbClr val="0000FF"/>
                </a:solidFill>
                <a:effectLst/>
                <a:uFill>
                  <a:solidFill>
                    <a:srgbClr val="EE0000"/>
                  </a:solidFill>
                </a:uFill>
                <a:latin typeface="Lucida Sans Unicode"/>
                <a:hlinkClick r:id="rId5"/>
              </a:rPr>
              <a:t> </a:t>
            </a:r>
            <a:r>
              <a:rPr lang="en-US" sz="1700" b="0" u="heavy" spc="-11" strike="noStrike">
                <a:solidFill>
                  <a:srgbClr val="0000FF"/>
                </a:solidFill>
                <a:effectLst/>
                <a:uFill>
                  <a:solidFill>
                    <a:srgbClr val="EE0000"/>
                  </a:solidFill>
                </a:uFill>
                <a:latin typeface="Lucida Sans Unicode"/>
                <a:hlinkClick r:id="rId6"/>
              </a:rPr>
              <a:t>Matrix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7120">
              <a:lnSpc>
                <a:spcPct val="100000"/>
              </a:lnSpc>
              <a:spcBef>
                <a:spcPts val="751"/>
              </a:spcBef>
            </a:pPr>
            <a:r>
              <a:rPr lang="en-US" sz="1200" b="0" u="none" strike="noStrike">
                <a:solidFill>
                  <a:srgbClr val="4D4D4F"/>
                </a:solidFill>
                <a:effectLst/>
                <a:uFillTx/>
                <a:latin typeface="Lucida Sans Unicode"/>
              </a:rPr>
              <a:t>Version</a:t>
            </a:r>
            <a:r>
              <a:rPr lang="en-US" sz="1200" b="0" u="none" spc="-6" strike="noStrike">
                <a:solidFill>
                  <a:srgbClr val="4D4D4F"/>
                </a:solidFill>
                <a:effectLst/>
                <a:uFillTx/>
                <a:latin typeface="Lucida Sans Unicode"/>
              </a:rPr>
              <a:t> </a:t>
            </a:r>
            <a:r>
              <a:rPr lang="en-US" sz="1200" b="0" u="none" spc="-99" strike="noStrike">
                <a:solidFill>
                  <a:srgbClr val="4D4D4F"/>
                </a:solidFill>
                <a:effectLst/>
                <a:uFillTx/>
                <a:latin typeface="Lucida Sans Unicode"/>
              </a:rPr>
              <a:t>2023-</a:t>
            </a:r>
            <a:r>
              <a:rPr lang="en-US" sz="1200" b="0" u="none" spc="-119" strike="noStrike">
                <a:solidFill>
                  <a:srgbClr val="4D4D4F"/>
                </a:solidFill>
                <a:effectLst/>
                <a:uFillTx/>
                <a:latin typeface="Lucida Sans Unicode"/>
              </a:rPr>
              <a:t>05-</a:t>
            </a:r>
            <a:r>
              <a:rPr lang="en-US" sz="1200" b="0" u="none" spc="-26" strike="noStrike">
                <a:solidFill>
                  <a:srgbClr val="4D4D4F"/>
                </a:solidFill>
                <a:effectLst/>
                <a:uFillTx/>
                <a:latin typeface="Lucida Sans Unicode"/>
              </a:rPr>
              <a:t>17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6" name="object 31"/>
          <p:cNvGrpSpPr/>
          <p:nvPr/>
        </p:nvGrpSpPr>
        <p:grpSpPr>
          <a:xfrm>
            <a:off x="10739160" y="3288600"/>
            <a:ext cx="29880" cy="42120"/>
            <a:chOff x="10739160" y="3288600"/>
            <a:chExt cx="29880" cy="42120"/>
          </a:xfrm>
        </p:grpSpPr>
        <p:sp>
          <p:nvSpPr>
            <p:cNvPr id="117" name="object 32"/>
            <p:cNvSpPr/>
            <p:nvPr/>
          </p:nvSpPr>
          <p:spPr>
            <a:xfrm>
              <a:off x="10739160" y="328860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66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object 33"/>
            <p:cNvSpPr/>
            <p:nvPr/>
          </p:nvSpPr>
          <p:spPr>
            <a:xfrm>
              <a:off x="10739160" y="328860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6666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9" name="object 34"/>
          <p:cNvGrpSpPr/>
          <p:nvPr/>
        </p:nvGrpSpPr>
        <p:grpSpPr>
          <a:xfrm>
            <a:off x="6074640" y="3288600"/>
            <a:ext cx="29880" cy="42120"/>
            <a:chOff x="6074640" y="3288600"/>
            <a:chExt cx="29880" cy="42120"/>
          </a:xfrm>
        </p:grpSpPr>
        <p:sp>
          <p:nvSpPr>
            <p:cNvPr id="120" name="object 35"/>
            <p:cNvSpPr/>
            <p:nvPr/>
          </p:nvSpPr>
          <p:spPr>
            <a:xfrm>
              <a:off x="6074640" y="328860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66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object 36"/>
            <p:cNvSpPr/>
            <p:nvPr/>
          </p:nvSpPr>
          <p:spPr>
            <a:xfrm>
              <a:off x="6074640" y="328860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6666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2" name="PlaceHolder 1"/>
          <p:cNvSpPr>
            <a:spLocks noGrp="1"/>
          </p:cNvSpPr>
          <p:nvPr>
            <p:ph type="dt" idx="25"/>
          </p:nvPr>
        </p:nvSpPr>
        <p:spPr>
          <a:xfrm>
            <a:off x="5427360" y="6472080"/>
            <a:ext cx="1141920" cy="21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24120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defRPr>
            </a:lvl1pPr>
          </a:lstStyle>
          <a:p>
            <a:pPr marL="241200" indent="0" algn="l">
              <a:lnSpc>
                <a:spcPts val="1644"/>
              </a:lnSpc>
              <a:buNone/>
              <a:tabLst>
                <a:tab pos="0" algn="l"/>
              </a:tabLst>
            </a:pPr>
            <a:r>
              <a:rPr lang="en-U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VP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ldNum" idx="26"/>
          </p:nvPr>
        </p:nvSpPr>
        <p:spPr>
          <a:xfrm>
            <a:off x="11634120" y="6487560"/>
            <a:ext cx="295560" cy="22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3816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26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38160" indent="0" algn="l">
              <a:lnSpc>
                <a:spcPts val="1644"/>
              </a:lnSpc>
              <a:buNone/>
              <a:tabLst>
                <a:tab pos="0" algn="l"/>
              </a:tabLst>
            </a:pPr>
            <a:fld id="{242214E1-E4B4-468A-87D6-6353E7D4BF15}" type="slidenum">
              <a:rPr lang="en-US" sz="14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title"/>
          </p:nvPr>
        </p:nvSpPr>
        <p:spPr>
          <a:xfrm>
            <a:off x="696960" y="246600"/>
            <a:ext cx="5259240" cy="574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3600" b="0" u="none" spc="54" strike="noStrike">
                <a:solidFill>
                  <a:schemeClr val="dk2"/>
                </a:solidFill>
                <a:effectLst/>
                <a:uFillTx/>
                <a:latin typeface="Verdana"/>
              </a:rPr>
              <a:t>OpenShift</a:t>
            </a:r>
            <a:r>
              <a:rPr lang="en-US" sz="3600" b="0" u="none" spc="-261" strike="noStrike">
                <a:solidFill>
                  <a:schemeClr val="dk2"/>
                </a:solidFill>
                <a:effectLst/>
                <a:uFillTx/>
                <a:latin typeface="Verdana"/>
              </a:rPr>
              <a:t> </a:t>
            </a:r>
            <a:r>
              <a:rPr lang="en-US" sz="3600" b="0" u="none" spc="79" strike="noStrike">
                <a:solidFill>
                  <a:schemeClr val="dk2"/>
                </a:solidFill>
                <a:effectLst/>
                <a:uFillTx/>
                <a:latin typeface="Verdana"/>
              </a:rPr>
              <a:t>Networking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5" name="object 38"/>
          <p:cNvSpPr/>
          <p:nvPr/>
        </p:nvSpPr>
        <p:spPr>
          <a:xfrm>
            <a:off x="1006200" y="854640"/>
            <a:ext cx="657504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pos="30852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-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	</a:t>
            </a:r>
            <a:r>
              <a:rPr lang="en-US" sz="1600" b="0" u="none" spc="113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Where</a:t>
            </a:r>
            <a:r>
              <a:rPr lang="en-US" sz="1600" b="0" u="none" spc="-11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does</a:t>
            </a:r>
            <a:r>
              <a:rPr lang="en-US" sz="1600" b="0" u="none" spc="-6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OVN-Kubernetes</a:t>
            </a:r>
            <a:r>
              <a:rPr lang="en-US" sz="1600" b="0" u="none" spc="-11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1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belong</a:t>
            </a:r>
            <a:r>
              <a:rPr lang="en-US" sz="1600" b="0" u="none" spc="-6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in</a:t>
            </a:r>
            <a:r>
              <a:rPr lang="en-US" sz="1600" b="0" u="none" spc="-6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5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the</a:t>
            </a:r>
            <a:r>
              <a:rPr lang="en-US" sz="1600" b="0" u="none" spc="-11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4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OpenShift</a:t>
            </a:r>
            <a:r>
              <a:rPr lang="en-US" sz="1600" b="0" u="none" spc="-6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1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world?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14" descr="Blue Powerpoint Images – Browse 140,337 Stock Photos, Vectors, and Video |  Adobe Stock"/>
          <p:cNvPicPr/>
          <p:nvPr/>
        </p:nvPicPr>
        <p:blipFill>
          <a:blip r:embed="rId1"/>
          <a:stretch/>
        </p:blipFill>
        <p:spPr>
          <a:xfrm>
            <a:off x="18360" y="-12240"/>
            <a:ext cx="12159360" cy="686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PlaceHolder 1"/>
          <p:cNvSpPr>
            <a:spLocks noGrp="1"/>
          </p:cNvSpPr>
          <p:nvPr>
            <p:ph type="dt" idx="27"/>
          </p:nvPr>
        </p:nvSpPr>
        <p:spPr>
          <a:xfrm>
            <a:off x="5427360" y="6472080"/>
            <a:ext cx="1141920" cy="21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24120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defRPr>
            </a:lvl1pPr>
          </a:lstStyle>
          <a:p>
            <a:pPr marL="241200" indent="0" algn="l">
              <a:lnSpc>
                <a:spcPts val="1644"/>
              </a:lnSpc>
              <a:buNone/>
              <a:tabLst>
                <a:tab pos="0" algn="l"/>
              </a:tabLst>
            </a:pPr>
            <a:r>
              <a:rPr lang="en-U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VP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sldNum" idx="28"/>
          </p:nvPr>
        </p:nvSpPr>
        <p:spPr>
          <a:xfrm>
            <a:off x="11634120" y="6487560"/>
            <a:ext cx="295560" cy="22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3816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26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38160" indent="0" algn="l">
              <a:lnSpc>
                <a:spcPts val="1644"/>
              </a:lnSpc>
              <a:buNone/>
              <a:tabLst>
                <a:tab pos="0" algn="l"/>
              </a:tabLst>
            </a:pPr>
            <a:fld id="{81E6066B-CEA3-4D10-BBE0-CB8FDE71A5A8}" type="slidenum">
              <a:rPr lang="en-US" sz="14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title"/>
          </p:nvPr>
        </p:nvSpPr>
        <p:spPr>
          <a:xfrm>
            <a:off x="1365120" y="2881440"/>
            <a:ext cx="7321320" cy="69840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4400" b="1" u="none" spc="-235" strike="noStrike">
                <a:solidFill>
                  <a:srgbClr val="FFFFFF"/>
                </a:solidFill>
                <a:effectLst/>
                <a:uFillTx/>
                <a:latin typeface="Verdana"/>
              </a:rPr>
              <a:t>OVN-</a:t>
            </a:r>
            <a:r>
              <a:rPr lang="en-US" sz="4400" b="1" u="none" spc="-241" strike="noStrike">
                <a:solidFill>
                  <a:srgbClr val="FFFFFF"/>
                </a:solidFill>
                <a:effectLst/>
                <a:uFillTx/>
                <a:latin typeface="Verdana"/>
              </a:rPr>
              <a:t>Kubernetes</a:t>
            </a:r>
            <a:r>
              <a:rPr lang="en-US" sz="4400" b="1" u="none" spc="-230" strike="noStrike">
                <a:solidFill>
                  <a:srgbClr val="FFFFFF"/>
                </a:solidFill>
                <a:effectLst/>
                <a:uFillTx/>
                <a:latin typeface="Verdana"/>
              </a:rPr>
              <a:t> </a:t>
            </a:r>
            <a:r>
              <a:rPr lang="en-US" sz="4400" b="1" u="none" spc="-425" strike="noStrike">
                <a:solidFill>
                  <a:srgbClr val="FFFFFF"/>
                </a:solidFill>
                <a:effectLst/>
                <a:uFillTx/>
                <a:latin typeface="Verdana"/>
              </a:rPr>
              <a:t>-</a:t>
            </a:r>
            <a:r>
              <a:rPr lang="en-US" sz="4400" b="1" u="none" spc="-224" strike="noStrike">
                <a:solidFill>
                  <a:srgbClr val="FFFFFF"/>
                </a:solidFill>
                <a:effectLst/>
                <a:uFillTx/>
                <a:latin typeface="Verdana"/>
              </a:rPr>
              <a:t> </a:t>
            </a:r>
            <a:r>
              <a:rPr lang="en-US" sz="4400" b="1" u="none" spc="-85" strike="noStrike">
                <a:solidFill>
                  <a:srgbClr val="FFFFFF"/>
                </a:solidFill>
                <a:effectLst/>
                <a:uFillTx/>
                <a:latin typeface="Verdana"/>
              </a:rPr>
              <a:t>What?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35"/>
          <p:cNvPicPr/>
          <p:nvPr/>
        </p:nvPicPr>
        <p:blipFill>
          <a:blip r:embed="rId1"/>
          <a:stretch/>
        </p:blipFill>
        <p:spPr>
          <a:xfrm rot="16200000">
            <a:off x="5729760" y="443880"/>
            <a:ext cx="719640" cy="1217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PlaceHolder 1"/>
          <p:cNvSpPr>
            <a:spLocks noGrp="1"/>
          </p:cNvSpPr>
          <p:nvPr>
            <p:ph type="dt" idx="29"/>
          </p:nvPr>
        </p:nvSpPr>
        <p:spPr>
          <a:xfrm>
            <a:off x="5427360" y="6472080"/>
            <a:ext cx="1141920" cy="37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24120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defRPr>
            </a:lvl1pPr>
          </a:lstStyle>
          <a:p>
            <a:pPr marL="241200" indent="0" algn="l">
              <a:lnSpc>
                <a:spcPts val="1644"/>
              </a:lnSpc>
              <a:buNone/>
              <a:tabLst>
                <a:tab pos="0" algn="l"/>
              </a:tabLst>
            </a:pPr>
            <a:r>
              <a:rPr lang="en-U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VP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ldNum" idx="30"/>
          </p:nvPr>
        </p:nvSpPr>
        <p:spPr>
          <a:xfrm>
            <a:off x="11634120" y="6487560"/>
            <a:ext cx="295560" cy="22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3816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26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38160" indent="0" algn="l">
              <a:lnSpc>
                <a:spcPts val="1644"/>
              </a:lnSpc>
              <a:buNone/>
              <a:tabLst>
                <a:tab pos="0" algn="l"/>
              </a:tabLst>
            </a:pPr>
            <a:fld id="{6BF2EFCB-E44A-40EA-B60F-168B962003E0}" type="slidenum">
              <a:rPr lang="en-US" sz="14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title"/>
          </p:nvPr>
        </p:nvSpPr>
        <p:spPr>
          <a:xfrm>
            <a:off x="1225440" y="417600"/>
            <a:ext cx="10951920" cy="574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dk2"/>
                </a:solidFill>
                <a:effectLst/>
                <a:uFillTx/>
                <a:latin typeface="Verdana"/>
              </a:rPr>
              <a:t>OpenShift-</a:t>
            </a:r>
            <a:r>
              <a:rPr lang="en-US" sz="3600" b="0" u="none" spc="-170" strike="noStrike">
                <a:solidFill>
                  <a:schemeClr val="dk2"/>
                </a:solidFill>
                <a:effectLst/>
                <a:uFillTx/>
                <a:latin typeface="Verdana"/>
              </a:rPr>
              <a:t>SDN:</a:t>
            </a:r>
            <a:r>
              <a:rPr lang="en-US" sz="3600" b="0" u="none" spc="-230" strike="noStrike">
                <a:solidFill>
                  <a:schemeClr val="dk2"/>
                </a:solidFill>
                <a:effectLst/>
                <a:uFillTx/>
                <a:latin typeface="Verdana"/>
              </a:rPr>
              <a:t> </a:t>
            </a:r>
            <a:r>
              <a:rPr lang="en-US" sz="3600" b="0" u="none" spc="54" strike="noStrike">
                <a:solidFill>
                  <a:schemeClr val="dk2"/>
                </a:solidFill>
                <a:effectLst/>
                <a:uFillTx/>
                <a:latin typeface="Verdana"/>
              </a:rPr>
              <a:t>Legacy</a:t>
            </a:r>
            <a:r>
              <a:rPr lang="en-US" sz="3600" b="0" u="none" spc="-224" strike="noStrike">
                <a:solidFill>
                  <a:schemeClr val="dk2"/>
                </a:solidFill>
                <a:effectLst/>
                <a:uFillTx/>
                <a:latin typeface="Verdana"/>
              </a:rPr>
              <a:t> </a:t>
            </a:r>
            <a:r>
              <a:rPr lang="en-US" sz="3600" b="0" u="none" spc="74" strike="noStrike">
                <a:solidFill>
                  <a:schemeClr val="dk2"/>
                </a:solidFill>
                <a:effectLst/>
                <a:uFillTx/>
                <a:latin typeface="Verdana"/>
              </a:rPr>
              <a:t>Network</a:t>
            </a:r>
            <a:r>
              <a:rPr lang="en-US" sz="3600" b="0" u="none" spc="-224" strike="noStrike">
                <a:solidFill>
                  <a:schemeClr val="dk2"/>
                </a:solidFill>
                <a:effectLst/>
                <a:uFillTx/>
                <a:latin typeface="Verdana"/>
              </a:rPr>
              <a:t> </a:t>
            </a:r>
            <a:r>
              <a:rPr lang="en-US" sz="3600" b="0" u="none" spc="-11" strike="noStrike">
                <a:solidFill>
                  <a:schemeClr val="dk2"/>
                </a:solidFill>
                <a:effectLst/>
                <a:uFillTx/>
                <a:latin typeface="Verdana"/>
              </a:rPr>
              <a:t>Provider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4" name="object 3"/>
          <p:cNvSpPr/>
          <p:nvPr/>
        </p:nvSpPr>
        <p:spPr>
          <a:xfrm>
            <a:off x="947520" y="1082880"/>
            <a:ext cx="550800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pos="30852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-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	</a:t>
            </a:r>
            <a:r>
              <a:rPr lang="en-US" sz="1600" b="0" u="none" spc="139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What</a:t>
            </a:r>
            <a:r>
              <a:rPr lang="en-US" sz="1600" b="0" u="none" spc="-31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45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is</a:t>
            </a:r>
            <a:r>
              <a:rPr lang="en-US" sz="1600" b="0" u="none" spc="-31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4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OpenShift</a:t>
            </a:r>
            <a:r>
              <a:rPr lang="en-US" sz="1600" b="0" u="none" spc="-31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315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-</a:t>
            </a:r>
            <a:r>
              <a:rPr lang="en-US" sz="1600" b="0" u="none" spc="-34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1" u="none" strike="noStrike">
                <a:solidFill>
                  <a:srgbClr val="595959"/>
                </a:solidFill>
                <a:effectLst/>
                <a:uFillTx/>
                <a:latin typeface="Verdana"/>
              </a:rPr>
              <a:t>S</a:t>
            </a:r>
            <a:r>
              <a:rPr lang="en-US" sz="1600" b="0" u="none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oftware</a:t>
            </a:r>
            <a:r>
              <a:rPr lang="en-US" sz="1600" b="0" u="none" spc="-31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1" u="none" strike="noStrike">
                <a:solidFill>
                  <a:srgbClr val="595959"/>
                </a:solidFill>
                <a:effectLst/>
                <a:uFillTx/>
                <a:latin typeface="Verdana"/>
              </a:rPr>
              <a:t>D</a:t>
            </a:r>
            <a:r>
              <a:rPr lang="en-US" sz="1600" b="0" u="none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eﬁned</a:t>
            </a:r>
            <a:r>
              <a:rPr lang="en-US" sz="1600" b="0" u="none" spc="-26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1" u="none" spc="40" strike="noStrike">
                <a:solidFill>
                  <a:srgbClr val="595959"/>
                </a:solidFill>
                <a:effectLst/>
                <a:uFillTx/>
                <a:latin typeface="Verdana"/>
              </a:rPr>
              <a:t>N</a:t>
            </a:r>
            <a:r>
              <a:rPr lang="en-US" sz="1600" b="0" u="none" spc="40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etworking?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object 4"/>
          <p:cNvSpPr/>
          <p:nvPr/>
        </p:nvSpPr>
        <p:spPr>
          <a:xfrm>
            <a:off x="9488520" y="1332360"/>
            <a:ext cx="1952640" cy="385920"/>
          </a:xfrm>
          <a:prstGeom prst="rect">
            <a:avLst/>
          </a:prstGeom>
          <a:solidFill>
            <a:srgbClr val="D9D1E9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187920" rIns="0" bIns="0" anchor="t">
            <a:spAutoFit/>
          </a:bodyPr>
          <a:p>
            <a:pPr marL="403200">
              <a:lnSpc>
                <a:spcPct val="100000"/>
              </a:lnSpc>
              <a:spcBef>
                <a:spcPts val="1480"/>
              </a:spcBef>
            </a:pPr>
            <a:r>
              <a:rPr lang="en-US" sz="1300" b="0" u="none" spc="-11" strike="noStrike">
                <a:solidFill>
                  <a:srgbClr val="000000"/>
                </a:solidFill>
                <a:effectLst/>
                <a:uFillTx/>
                <a:latin typeface="Arial MT"/>
              </a:rPr>
              <a:t>Kubernetes</a:t>
            </a:r>
            <a:r>
              <a:rPr lang="en-US" sz="1300" b="0" u="none" spc="-45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1300" b="0" u="none" spc="-26" strike="noStrike">
                <a:solidFill>
                  <a:srgbClr val="000000"/>
                </a:solidFill>
                <a:effectLst/>
                <a:uFillTx/>
                <a:latin typeface="Arial MT"/>
              </a:rPr>
              <a:t>API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object 5"/>
          <p:cNvSpPr/>
          <p:nvPr/>
        </p:nvSpPr>
        <p:spPr>
          <a:xfrm>
            <a:off x="9488520" y="2557080"/>
            <a:ext cx="1952640" cy="385920"/>
          </a:xfrm>
          <a:prstGeom prst="rect">
            <a:avLst/>
          </a:prstGeom>
          <a:solidFill>
            <a:srgbClr val="EAD1DC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187920" rIns="0" bIns="0" anchor="t">
            <a:spAutoFit/>
          </a:bodyPr>
          <a:p>
            <a:pPr marL="412920">
              <a:lnSpc>
                <a:spcPct val="100000"/>
              </a:lnSpc>
              <a:spcBef>
                <a:spcPts val="1480"/>
              </a:spcBef>
            </a:pPr>
            <a:r>
              <a:rPr lang="en-US" sz="1300" b="0" u="none" spc="-11" strike="noStrike">
                <a:solidFill>
                  <a:srgbClr val="000000"/>
                </a:solidFill>
                <a:effectLst/>
                <a:uFillTx/>
                <a:latin typeface="Arial MT"/>
              </a:rPr>
              <a:t>OpenShift</a:t>
            </a:r>
            <a:r>
              <a:rPr lang="en-US" sz="1300" b="0" u="none" spc="-14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1300" b="0" u="none" spc="-26" strike="noStrike">
                <a:solidFill>
                  <a:srgbClr val="000000"/>
                </a:solidFill>
                <a:effectLst/>
                <a:uFillTx/>
                <a:latin typeface="Arial MT"/>
              </a:rPr>
              <a:t>SDN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object 6"/>
          <p:cNvSpPr/>
          <p:nvPr/>
        </p:nvSpPr>
        <p:spPr>
          <a:xfrm>
            <a:off x="8976960" y="3781440"/>
            <a:ext cx="1357560" cy="385920"/>
          </a:xfrm>
          <a:prstGeom prst="rect">
            <a:avLst/>
          </a:prstGeom>
          <a:solidFill>
            <a:srgbClr val="EAD1DC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187920" rIns="0" bIns="0" anchor="t">
            <a:spAutoFit/>
          </a:bodyPr>
          <a:p>
            <a:pPr algn="ctr">
              <a:lnSpc>
                <a:spcPct val="100000"/>
              </a:lnSpc>
              <a:spcBef>
                <a:spcPts val="1480"/>
              </a:spcBef>
            </a:pPr>
            <a:r>
              <a:rPr lang="en-US" sz="1300" b="0" u="none" spc="-26" strike="noStrike">
                <a:solidFill>
                  <a:srgbClr val="000000"/>
                </a:solidFill>
                <a:effectLst/>
                <a:uFillTx/>
                <a:latin typeface="Arial MT"/>
              </a:rPr>
              <a:t>OVS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object 7"/>
          <p:cNvSpPr/>
          <p:nvPr/>
        </p:nvSpPr>
        <p:spPr>
          <a:xfrm>
            <a:off x="9488520" y="5006160"/>
            <a:ext cx="1952640" cy="485640"/>
          </a:xfrm>
          <a:prstGeom prst="rect">
            <a:avLst/>
          </a:prstGeom>
          <a:solidFill>
            <a:srgbClr val="EAD1DC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85680" rIns="0" bIns="0" anchor="t">
            <a:spAutoFit/>
          </a:bodyPr>
          <a:p>
            <a:pPr marL="770400" indent="-468000">
              <a:lnSpc>
                <a:spcPct val="101000"/>
              </a:lnSpc>
              <a:spcBef>
                <a:spcPts val="675"/>
              </a:spcBef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Kernel</a:t>
            </a:r>
            <a:r>
              <a:rPr lang="en-US" sz="1300" b="0" u="none" spc="-71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1300" b="0" u="none" spc="-11" strike="noStrike">
                <a:solidFill>
                  <a:srgbClr val="000000"/>
                </a:solidFill>
                <a:effectLst/>
                <a:uFillTx/>
                <a:latin typeface="Arial MT"/>
              </a:rPr>
              <a:t>Networking Stack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9" name="object 8"/>
          <p:cNvGrpSpPr/>
          <p:nvPr/>
        </p:nvGrpSpPr>
        <p:grpSpPr>
          <a:xfrm>
            <a:off x="10450080" y="1921320"/>
            <a:ext cx="29880" cy="620640"/>
            <a:chOff x="10450080" y="1921320"/>
            <a:chExt cx="29880" cy="620640"/>
          </a:xfrm>
        </p:grpSpPr>
        <p:sp>
          <p:nvSpPr>
            <p:cNvPr id="140" name="object 9"/>
            <p:cNvSpPr/>
            <p:nvPr/>
          </p:nvSpPr>
          <p:spPr>
            <a:xfrm>
              <a:off x="10465560" y="1921320"/>
              <a:ext cx="360" cy="577440"/>
            </a:xfrm>
            <a:custGeom>
              <a:avLst/>
              <a:gdLst>
                <a:gd name="textAreaLeft" fmla="*/ 0 w 360"/>
                <a:gd name="textAreaRight" fmla="*/ 11520 w 360"/>
                <a:gd name="textAreaTop" fmla="*/ 0 h 577440"/>
                <a:gd name="textAreaBottom" fmla="*/ 579240 h 577440"/>
              </a:gdLst>
              <a:ahLst/>
              <a:cxnLst/>
              <a:rect l="textAreaLeft" t="textAreaTop" r="textAreaRight" b="textAreaBottom"/>
              <a:pathLst>
                <a:path w="0" h="579119">
                  <a:moveTo>
                    <a:pt x="0" y="0"/>
                  </a:moveTo>
                  <a:lnTo>
                    <a:pt x="0" y="578549"/>
                  </a:lnTo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object 10"/>
            <p:cNvSpPr/>
            <p:nvPr/>
          </p:nvSpPr>
          <p:spPr>
            <a:xfrm>
              <a:off x="10450080" y="249984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4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object 11"/>
            <p:cNvSpPr/>
            <p:nvPr/>
          </p:nvSpPr>
          <p:spPr>
            <a:xfrm>
              <a:off x="10450080" y="249984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4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3" name="object 12"/>
          <p:cNvGrpSpPr/>
          <p:nvPr/>
        </p:nvGrpSpPr>
        <p:grpSpPr>
          <a:xfrm>
            <a:off x="9638280" y="3149640"/>
            <a:ext cx="29880" cy="616320"/>
            <a:chOff x="9638280" y="3149640"/>
            <a:chExt cx="29880" cy="616320"/>
          </a:xfrm>
        </p:grpSpPr>
        <p:sp>
          <p:nvSpPr>
            <p:cNvPr id="144" name="object 13"/>
            <p:cNvSpPr/>
            <p:nvPr/>
          </p:nvSpPr>
          <p:spPr>
            <a:xfrm>
              <a:off x="9654120" y="3149640"/>
              <a:ext cx="3960" cy="572760"/>
            </a:xfrm>
            <a:custGeom>
              <a:avLst/>
              <a:gdLst>
                <a:gd name="textAreaLeft" fmla="*/ 0 w 3960"/>
                <a:gd name="textAreaRight" fmla="*/ 5760 w 3960"/>
                <a:gd name="textAreaTop" fmla="*/ 0 h 572760"/>
                <a:gd name="textAreaBottom" fmla="*/ 574560 h 572760"/>
              </a:gdLst>
              <a:ahLst/>
              <a:cxnLst/>
              <a:rect l="textAreaLeft" t="textAreaTop" r="textAreaRight" b="textAreaBottom"/>
              <a:pathLst>
                <a:path w="5715" h="574675">
                  <a:moveTo>
                    <a:pt x="5456" y="0"/>
                  </a:moveTo>
                  <a:lnTo>
                    <a:pt x="0" y="574052"/>
                  </a:lnTo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object 14"/>
            <p:cNvSpPr/>
            <p:nvPr/>
          </p:nvSpPr>
          <p:spPr>
            <a:xfrm>
              <a:off x="9638280" y="372384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15320" y="43373"/>
                  </a:moveTo>
                  <a:lnTo>
                    <a:pt x="0" y="0"/>
                  </a:lnTo>
                  <a:lnTo>
                    <a:pt x="31463" y="298"/>
                  </a:lnTo>
                  <a:lnTo>
                    <a:pt x="15320" y="4337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object 15"/>
            <p:cNvSpPr/>
            <p:nvPr/>
          </p:nvSpPr>
          <p:spPr>
            <a:xfrm>
              <a:off x="9638280" y="372384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0" y="0"/>
                  </a:moveTo>
                  <a:lnTo>
                    <a:pt x="15320" y="43373"/>
                  </a:lnTo>
                  <a:lnTo>
                    <a:pt x="31463" y="29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7" name="object 16"/>
          <p:cNvGrpSpPr/>
          <p:nvPr/>
        </p:nvGrpSpPr>
        <p:grpSpPr>
          <a:xfrm>
            <a:off x="9643320" y="4371120"/>
            <a:ext cx="29880" cy="614880"/>
            <a:chOff x="9643320" y="4371120"/>
            <a:chExt cx="29880" cy="614880"/>
          </a:xfrm>
        </p:grpSpPr>
        <p:sp>
          <p:nvSpPr>
            <p:cNvPr id="148" name="object 17"/>
            <p:cNvSpPr/>
            <p:nvPr/>
          </p:nvSpPr>
          <p:spPr>
            <a:xfrm>
              <a:off x="9653400" y="4371120"/>
              <a:ext cx="3960" cy="571680"/>
            </a:xfrm>
            <a:custGeom>
              <a:avLst/>
              <a:gdLst>
                <a:gd name="textAreaLeft" fmla="*/ 0 w 3960"/>
                <a:gd name="textAreaRight" fmla="*/ 5760 w 3960"/>
                <a:gd name="textAreaTop" fmla="*/ 0 h 571680"/>
                <a:gd name="textAreaBottom" fmla="*/ 573480 h 571680"/>
              </a:gdLst>
              <a:ahLst/>
              <a:cxnLst/>
              <a:rect l="textAreaLeft" t="textAreaTop" r="textAreaRight" b="textAreaBottom"/>
              <a:pathLst>
                <a:path w="5715" h="573404">
                  <a:moveTo>
                    <a:pt x="0" y="0"/>
                  </a:moveTo>
                  <a:lnTo>
                    <a:pt x="5455" y="572852"/>
                  </a:lnTo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object 18"/>
            <p:cNvSpPr/>
            <p:nvPr/>
          </p:nvSpPr>
          <p:spPr>
            <a:xfrm>
              <a:off x="9643320" y="494388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16143" y="43373"/>
                  </a:moveTo>
                  <a:lnTo>
                    <a:pt x="0" y="299"/>
                  </a:lnTo>
                  <a:lnTo>
                    <a:pt x="31463" y="0"/>
                  </a:lnTo>
                  <a:lnTo>
                    <a:pt x="16143" y="4337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object 19"/>
            <p:cNvSpPr/>
            <p:nvPr/>
          </p:nvSpPr>
          <p:spPr>
            <a:xfrm>
              <a:off x="9643320" y="494388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0" y="299"/>
                  </a:moveTo>
                  <a:lnTo>
                    <a:pt x="16143" y="43373"/>
                  </a:lnTo>
                  <a:lnTo>
                    <a:pt x="31463" y="0"/>
                  </a:lnTo>
                  <a:lnTo>
                    <a:pt x="0" y="299"/>
                  </a:lnTo>
                  <a:close/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1" name="object 20"/>
          <p:cNvSpPr/>
          <p:nvPr/>
        </p:nvSpPr>
        <p:spPr>
          <a:xfrm>
            <a:off x="10607760" y="3781440"/>
            <a:ext cx="1357560" cy="385920"/>
          </a:xfrm>
          <a:prstGeom prst="rect">
            <a:avLst/>
          </a:prstGeom>
          <a:solidFill>
            <a:srgbClr val="EAD1DC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187920" rIns="0" bIns="0" anchor="t">
            <a:spAutoFit/>
          </a:bodyPr>
          <a:p>
            <a:pPr marL="271080">
              <a:lnSpc>
                <a:spcPct val="100000"/>
              </a:lnSpc>
              <a:spcBef>
                <a:spcPts val="1480"/>
              </a:spcBef>
            </a:pPr>
            <a:r>
              <a:rPr lang="en-US" sz="1300" b="0" u="none" spc="-11" strike="noStrike">
                <a:solidFill>
                  <a:srgbClr val="000000"/>
                </a:solidFill>
                <a:effectLst/>
                <a:uFillTx/>
                <a:latin typeface="Arial MT"/>
              </a:rPr>
              <a:t>kube-proxy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2" name="object 21"/>
          <p:cNvGrpSpPr/>
          <p:nvPr/>
        </p:nvGrpSpPr>
        <p:grpSpPr>
          <a:xfrm>
            <a:off x="11269080" y="3148200"/>
            <a:ext cx="29880" cy="615960"/>
            <a:chOff x="11269080" y="3148200"/>
            <a:chExt cx="29880" cy="615960"/>
          </a:xfrm>
        </p:grpSpPr>
        <p:sp>
          <p:nvSpPr>
            <p:cNvPr id="153" name="object 22"/>
            <p:cNvSpPr/>
            <p:nvPr/>
          </p:nvSpPr>
          <p:spPr>
            <a:xfrm>
              <a:off x="11284920" y="3148200"/>
              <a:ext cx="3960" cy="572760"/>
            </a:xfrm>
            <a:custGeom>
              <a:avLst/>
              <a:gdLst>
                <a:gd name="textAreaLeft" fmla="*/ 0 w 3960"/>
                <a:gd name="textAreaRight" fmla="*/ 5760 w 3960"/>
                <a:gd name="textAreaTop" fmla="*/ 0 h 572760"/>
                <a:gd name="textAreaBottom" fmla="*/ 574560 h 572760"/>
              </a:gdLst>
              <a:ahLst/>
              <a:cxnLst/>
              <a:rect l="textAreaLeft" t="textAreaTop" r="textAreaRight" b="textAreaBottom"/>
              <a:pathLst>
                <a:path w="5715" h="574675">
                  <a:moveTo>
                    <a:pt x="5456" y="0"/>
                  </a:moveTo>
                  <a:lnTo>
                    <a:pt x="0" y="574052"/>
                  </a:lnTo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object 23"/>
            <p:cNvSpPr/>
            <p:nvPr/>
          </p:nvSpPr>
          <p:spPr>
            <a:xfrm>
              <a:off x="11269080" y="372204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15320" y="43373"/>
                  </a:moveTo>
                  <a:lnTo>
                    <a:pt x="0" y="0"/>
                  </a:lnTo>
                  <a:lnTo>
                    <a:pt x="31463" y="298"/>
                  </a:lnTo>
                  <a:lnTo>
                    <a:pt x="15320" y="4337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object 24"/>
            <p:cNvSpPr/>
            <p:nvPr/>
          </p:nvSpPr>
          <p:spPr>
            <a:xfrm>
              <a:off x="11269080" y="372204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0" y="0"/>
                  </a:moveTo>
                  <a:lnTo>
                    <a:pt x="15320" y="43373"/>
                  </a:lnTo>
                  <a:lnTo>
                    <a:pt x="31463" y="29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6" name="object 25"/>
          <p:cNvGrpSpPr/>
          <p:nvPr/>
        </p:nvGrpSpPr>
        <p:grpSpPr>
          <a:xfrm>
            <a:off x="11274120" y="4371120"/>
            <a:ext cx="29880" cy="614880"/>
            <a:chOff x="11274120" y="4371120"/>
            <a:chExt cx="29880" cy="614880"/>
          </a:xfrm>
        </p:grpSpPr>
        <p:sp>
          <p:nvSpPr>
            <p:cNvPr id="157" name="object 26"/>
            <p:cNvSpPr/>
            <p:nvPr/>
          </p:nvSpPr>
          <p:spPr>
            <a:xfrm>
              <a:off x="11284560" y="4371120"/>
              <a:ext cx="3960" cy="571680"/>
            </a:xfrm>
            <a:custGeom>
              <a:avLst/>
              <a:gdLst>
                <a:gd name="textAreaLeft" fmla="*/ 0 w 3960"/>
                <a:gd name="textAreaRight" fmla="*/ 5760 w 3960"/>
                <a:gd name="textAreaTop" fmla="*/ 0 h 571680"/>
                <a:gd name="textAreaBottom" fmla="*/ 573480 h 571680"/>
              </a:gdLst>
              <a:ahLst/>
              <a:cxnLst/>
              <a:rect l="textAreaLeft" t="textAreaTop" r="textAreaRight" b="textAreaBottom"/>
              <a:pathLst>
                <a:path w="5715" h="573404">
                  <a:moveTo>
                    <a:pt x="0" y="0"/>
                  </a:moveTo>
                  <a:lnTo>
                    <a:pt x="5455" y="572852"/>
                  </a:lnTo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object 27"/>
            <p:cNvSpPr/>
            <p:nvPr/>
          </p:nvSpPr>
          <p:spPr>
            <a:xfrm>
              <a:off x="11274120" y="494388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16143" y="43373"/>
                  </a:moveTo>
                  <a:lnTo>
                    <a:pt x="0" y="299"/>
                  </a:lnTo>
                  <a:lnTo>
                    <a:pt x="31463" y="0"/>
                  </a:lnTo>
                  <a:lnTo>
                    <a:pt x="16143" y="4337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object 28"/>
            <p:cNvSpPr/>
            <p:nvPr/>
          </p:nvSpPr>
          <p:spPr>
            <a:xfrm>
              <a:off x="11274120" y="4943880"/>
              <a:ext cx="29880" cy="42120"/>
            </a:xfrm>
            <a:custGeom>
              <a:avLst/>
              <a:gdLst>
                <a:gd name="textAreaLeft" fmla="*/ 0 w 29880"/>
                <a:gd name="textAreaRight" fmla="*/ 31680 w 29880"/>
                <a:gd name="textAreaTop" fmla="*/ 0 h 42120"/>
                <a:gd name="textAreaBottom" fmla="*/ 43920 h 42120"/>
              </a:gdLst>
              <a:ahLst/>
              <a:cxnLst/>
              <a:rect l="textAreaLeft" t="textAreaTop" r="textAreaRight" b="textAreaBottom"/>
              <a:pathLst>
                <a:path w="31750" h="43814">
                  <a:moveTo>
                    <a:pt x="0" y="299"/>
                  </a:moveTo>
                  <a:lnTo>
                    <a:pt x="16143" y="43373"/>
                  </a:lnTo>
                  <a:lnTo>
                    <a:pt x="31463" y="0"/>
                  </a:lnTo>
                  <a:lnTo>
                    <a:pt x="0" y="299"/>
                  </a:lnTo>
                  <a:close/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0" name=""/>
          <p:cNvSpPr/>
          <p:nvPr/>
        </p:nvSpPr>
        <p:spPr>
          <a:xfrm>
            <a:off x="228600" y="1600200"/>
            <a:ext cx="5714280" cy="32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OpenShift SDN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Manages Pod networking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Manages OVS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Manages network flows and policies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Enables cross-node Pod networking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OVS (Open vSwitch)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Actually switches and forwards packets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kube-proxy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Implements Kubernetes Service → Pod forwarding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Linux Kernel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Provides the underlying networking machinery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53720" y="1564920"/>
            <a:ext cx="676116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Kubernetes / OpenShift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┌──────────┴──────────┐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│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kube-proxy                               OpenShift SDN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│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Service handling                        Pod networking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│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iptables                                             OVS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│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└──────────┬──────────┘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Linux kernel networking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NIC / physical network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7"/>
          <p:cNvPicPr/>
          <p:nvPr/>
        </p:nvPicPr>
        <p:blipFill>
          <a:blip r:embed="rId1"/>
          <a:stretch/>
        </p:blipFill>
        <p:spPr>
          <a:xfrm rot="16200000">
            <a:off x="5727240" y="444960"/>
            <a:ext cx="719640" cy="12177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Picture 1"/>
          <p:cNvPicPr/>
          <p:nvPr/>
        </p:nvPicPr>
        <p:blipFill>
          <a:blip r:embed="rId2"/>
          <a:stretch/>
        </p:blipFill>
        <p:spPr>
          <a:xfrm>
            <a:off x="2050920" y="1371600"/>
            <a:ext cx="6247080" cy="434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TextBox 5"/>
          <p:cNvSpPr/>
          <p:nvPr/>
        </p:nvSpPr>
        <p:spPr>
          <a:xfrm>
            <a:off x="1898640" y="609480"/>
            <a:ext cx="1806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OpenShift SDN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Picture 6"/>
          <p:cNvPicPr/>
          <p:nvPr/>
        </p:nvPicPr>
        <p:blipFill>
          <a:blip r:embed="rId1"/>
          <a:stretch/>
        </p:blipFill>
        <p:spPr>
          <a:xfrm rot="16200000">
            <a:off x="5727240" y="444960"/>
            <a:ext cx="719640" cy="1217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PlaceHolder 1"/>
          <p:cNvSpPr>
            <a:spLocks noGrp="1"/>
          </p:cNvSpPr>
          <p:nvPr>
            <p:ph type="dt" idx="31"/>
          </p:nvPr>
        </p:nvSpPr>
        <p:spPr>
          <a:xfrm>
            <a:off x="5427360" y="6472080"/>
            <a:ext cx="1141920" cy="37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24120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defRPr>
            </a:lvl1pPr>
          </a:lstStyle>
          <a:p>
            <a:pPr marL="241200" indent="0" algn="l">
              <a:lnSpc>
                <a:spcPts val="1644"/>
              </a:lnSpc>
              <a:buNone/>
              <a:tabLst>
                <a:tab pos="0" algn="l"/>
              </a:tabLst>
            </a:pPr>
            <a:r>
              <a:rPr lang="en-U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VP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ldNum" idx="32"/>
          </p:nvPr>
        </p:nvSpPr>
        <p:spPr>
          <a:xfrm>
            <a:off x="11634120" y="6487560"/>
            <a:ext cx="295560" cy="22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3816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26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38160" indent="0" algn="l">
              <a:lnSpc>
                <a:spcPts val="1644"/>
              </a:lnSpc>
              <a:buNone/>
              <a:tabLst>
                <a:tab pos="0" algn="l"/>
              </a:tabLst>
            </a:pPr>
            <a:fld id="{B680071C-FB89-4A2B-8C52-796E75C306FF}" type="slidenum">
              <a:rPr lang="en-US" sz="14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title"/>
          </p:nvPr>
        </p:nvSpPr>
        <p:spPr>
          <a:xfrm>
            <a:off x="603360" y="210600"/>
            <a:ext cx="3951000" cy="574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dk2"/>
                </a:solidFill>
                <a:effectLst/>
                <a:uFillTx/>
                <a:latin typeface="Verdana"/>
              </a:rPr>
              <a:t>OVN-</a:t>
            </a:r>
            <a:r>
              <a:rPr lang="en-US" sz="3600" b="0" u="none" spc="-11" strike="noStrike">
                <a:solidFill>
                  <a:schemeClr val="dk2"/>
                </a:solidFill>
                <a:effectLst/>
                <a:uFillTx/>
                <a:latin typeface="Verdana"/>
              </a:rPr>
              <a:t>Kubernetes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9" name="object 3"/>
          <p:cNvSpPr/>
          <p:nvPr/>
        </p:nvSpPr>
        <p:spPr>
          <a:xfrm>
            <a:off x="873720" y="854640"/>
            <a:ext cx="7645680" cy="46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44720">
              <a:lnSpc>
                <a:spcPct val="100000"/>
              </a:lnSpc>
              <a:spcBef>
                <a:spcPts val="99"/>
              </a:spcBef>
              <a:tabLst>
                <a:tab pos="44064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-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	</a:t>
            </a:r>
            <a:r>
              <a:rPr lang="en-US" sz="1600" b="0" u="none" spc="79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Open</a:t>
            </a:r>
            <a:r>
              <a:rPr lang="en-US" sz="1600" b="0" u="none" spc="14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Virtual</a:t>
            </a:r>
            <a:r>
              <a:rPr lang="en-US" sz="1600" b="0" u="none" spc="20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1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Networking</a:t>
            </a:r>
            <a:r>
              <a:rPr lang="en-US" sz="1600" b="0" u="none" spc="14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20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for</a:t>
            </a:r>
            <a:r>
              <a:rPr lang="en-US" sz="1600" b="0" u="none" spc="20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Kubernetes</a:t>
            </a:r>
            <a:r>
              <a:rPr lang="en-US" sz="1600" b="0" u="none" spc="14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40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/</a:t>
            </a:r>
            <a:r>
              <a:rPr lang="en-US" sz="1600" b="0" u="none" spc="20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OVN-</a:t>
            </a:r>
            <a:r>
              <a:rPr lang="en-US" sz="1600" b="0" u="none" spc="-26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K8s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1360" indent="-428760">
              <a:lnSpc>
                <a:spcPct val="150000"/>
              </a:lnSpc>
              <a:spcBef>
                <a:spcPts val="1695"/>
              </a:spcBef>
              <a:buClr>
                <a:srgbClr val="000000"/>
              </a:buClr>
              <a:buFont typeface="MS PGothic"/>
              <a:buChar char="➔"/>
              <a:tabLst>
                <a:tab pos="441360" algn="l"/>
              </a:tabLst>
            </a:pPr>
            <a:r>
              <a:rPr lang="en-US" sz="1600" b="0" u="none" spc="79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Open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Source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heavy" spc="11" strike="noStrike">
                <a:solidFill>
                  <a:srgbClr val="0000FF"/>
                </a:solidFill>
                <a:effectLst/>
                <a:uFill>
                  <a:solidFill>
                    <a:srgbClr val="0000FF"/>
                  </a:solidFill>
                </a:uFill>
                <a:latin typeface="Lucida Sans Unicode"/>
                <a:hlinkClick r:id="rId2"/>
              </a:rPr>
              <a:t>project</a:t>
            </a:r>
            <a:r>
              <a:rPr lang="en-US" sz="1600" b="0" u="none" spc="-14" strike="noStrike">
                <a:solidFill>
                  <a:srgbClr val="0000FF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that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provides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a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robust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networking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solution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2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for </a:t>
            </a:r>
            <a:r>
              <a:rPr lang="en-US" sz="1600" b="0" u="none" spc="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Kubernetes</a:t>
            </a:r>
            <a:r>
              <a:rPr lang="en-US" sz="1600" b="0" u="none" spc="249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clusters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1360" indent="-42876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MS PGothic"/>
              <a:buChar char="➔"/>
              <a:tabLst>
                <a:tab pos="441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Has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heavy" spc="65" strike="noStrike">
                <a:solidFill>
                  <a:srgbClr val="0000FF"/>
                </a:solidFill>
                <a:effectLst/>
                <a:uFill>
                  <a:solidFill>
                    <a:srgbClr val="0000FF"/>
                  </a:solidFill>
                </a:uFill>
                <a:latin typeface="Lucida Sans Unicode"/>
                <a:hlinkClick r:id="rId3"/>
              </a:rPr>
              <a:t>OVN</a:t>
            </a:r>
            <a:r>
              <a:rPr lang="en-US" sz="1600" b="0" u="none" spc="-20" strike="noStrike">
                <a:solidFill>
                  <a:srgbClr val="0000FF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31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-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1" u="none" spc="51" strike="noStrike">
                <a:solidFill>
                  <a:srgbClr val="000000"/>
                </a:solidFill>
                <a:effectLst/>
                <a:uFillTx/>
                <a:latin typeface="Verdana"/>
              </a:rPr>
              <a:t>O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pen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V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irtual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N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etworking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and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heavy" spc="71" strike="noStrike">
                <a:solidFill>
                  <a:srgbClr val="0000FF"/>
                </a:solidFill>
                <a:effectLst/>
                <a:uFill>
                  <a:solidFill>
                    <a:srgbClr val="0000FF"/>
                  </a:solidFill>
                </a:uFill>
                <a:latin typeface="Lucida Sans Unicode"/>
                <a:hlinkClick r:id="rId4"/>
              </a:rPr>
              <a:t>OVS</a:t>
            </a:r>
            <a:r>
              <a:rPr lang="en-US" sz="1600" b="0" u="none" spc="-14" strike="noStrike">
                <a:solidFill>
                  <a:srgbClr val="0000FF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31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-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1" u="none" spc="51" strike="noStrike">
                <a:solidFill>
                  <a:srgbClr val="000000"/>
                </a:solidFill>
                <a:effectLst/>
                <a:uFillTx/>
                <a:latin typeface="Verdana"/>
              </a:rPr>
              <a:t>O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pen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V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irtual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S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witch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2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at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its</a:t>
            </a:r>
            <a:r>
              <a:rPr lang="en-US" sz="1600" b="0" u="none" spc="-1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core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98560" lvl="1" indent="-350640">
              <a:lnSpc>
                <a:spcPct val="150000"/>
              </a:lnSpc>
              <a:buClr>
                <a:srgbClr val="000000"/>
              </a:buClr>
              <a:buFont typeface="OpenSymbol"/>
              <a:buChar char="◆"/>
              <a:tabLst>
                <a:tab pos="8985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Uses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96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them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as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the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abstraction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layers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to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9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manage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cluster</a:t>
            </a:r>
            <a:r>
              <a:rPr lang="en-US" sz="1600" b="0" u="none" spc="-2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networking trafﬁc</a:t>
            </a:r>
            <a:r>
              <a:rPr lang="en-US" sz="1600" b="0" u="none" spc="-5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ﬂows</a:t>
            </a:r>
            <a:r>
              <a:rPr lang="en-US" sz="1600" b="0" u="none" spc="-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on</a:t>
            </a:r>
            <a:r>
              <a:rPr lang="en-US" sz="1600" b="0" u="none" spc="-5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the</a:t>
            </a:r>
            <a:r>
              <a:rPr lang="en-US" sz="1600" b="0" u="none" spc="-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3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node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1360" indent="-42876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MS PGothic"/>
              <a:buChar char="➔"/>
              <a:tabLst>
                <a:tab pos="441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Uses</a:t>
            </a:r>
            <a:r>
              <a:rPr lang="en-US" sz="1600" b="0" u="none" spc="7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heavy" spc="130" strike="noStrike">
                <a:solidFill>
                  <a:srgbClr val="0000FF"/>
                </a:solidFill>
                <a:effectLst/>
                <a:uFill>
                  <a:solidFill>
                    <a:srgbClr val="0000FF"/>
                  </a:solidFill>
                </a:uFill>
                <a:latin typeface="Lucida Sans Unicode"/>
                <a:hlinkClick r:id="rId5"/>
              </a:rPr>
              <a:t>GENEVE</a:t>
            </a:r>
            <a:r>
              <a:rPr lang="en-US" sz="1600" b="0" u="none" spc="74" strike="noStrike">
                <a:solidFill>
                  <a:srgbClr val="0000FF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(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G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eneric</a:t>
            </a:r>
            <a:r>
              <a:rPr lang="en-US" sz="1600" b="0" u="none" spc="7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N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etwork</a:t>
            </a:r>
            <a:r>
              <a:rPr lang="en-US" sz="1600" b="0" u="none" spc="7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V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irtualization</a:t>
            </a:r>
            <a:r>
              <a:rPr lang="en-US" sz="1600" b="0" u="none" spc="7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ncapsulation)</a:t>
            </a:r>
            <a:r>
              <a:rPr lang="en-US" sz="1600" b="0" u="none" spc="7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protocol </a:t>
            </a:r>
            <a:r>
              <a:rPr lang="en-US" sz="1600" b="0" u="none" spc="79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between</a:t>
            </a:r>
            <a:r>
              <a:rPr lang="en-US" sz="1600" b="0" u="none" spc="4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nodes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to</a:t>
            </a:r>
            <a:r>
              <a:rPr lang="en-US" sz="1600" b="0" u="none" spc="4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provide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overlay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networking</a:t>
            </a:r>
            <a:r>
              <a:rPr lang="en-US" sz="1600" b="0" u="none" spc="4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1360" indent="-42876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MS PGothic"/>
              <a:buChar char="➔"/>
              <a:tabLst>
                <a:tab pos="441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Creates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logical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4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network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topology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per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node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and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connects</a:t>
            </a:r>
            <a:r>
              <a:rPr lang="en-US" sz="1600" b="0" u="none" spc="-1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7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them 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together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97840" lvl="1" indent="-349920">
              <a:lnSpc>
                <a:spcPct val="100000"/>
              </a:lnSpc>
              <a:spcBef>
                <a:spcPts val="961"/>
              </a:spcBef>
              <a:buClr>
                <a:srgbClr val="000000"/>
              </a:buClr>
              <a:buFont typeface="OpenSymbol"/>
              <a:buChar char="◆"/>
              <a:tabLst>
                <a:tab pos="89784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logical</a:t>
            </a:r>
            <a:r>
              <a:rPr lang="en-US" sz="1600" b="0" u="none" spc="-4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routers,</a:t>
            </a:r>
            <a:r>
              <a:rPr lang="en-US" sz="1600" b="0" u="none" spc="-4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switches,</a:t>
            </a:r>
            <a:r>
              <a:rPr lang="en-US" sz="1600" b="0" u="none" spc="-40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pod</a:t>
            </a:r>
            <a:r>
              <a:rPr lang="en-US" sz="1600" b="0" u="none" spc="-34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1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ports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0" name="object 4"/>
          <p:cNvPicPr/>
          <p:nvPr/>
        </p:nvPicPr>
        <p:blipFill>
          <a:blip r:embed="rId6"/>
          <a:stretch/>
        </p:blipFill>
        <p:spPr>
          <a:xfrm>
            <a:off x="9033840" y="210600"/>
            <a:ext cx="2449080" cy="5423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/>
          <p:cNvPicPr/>
          <p:nvPr/>
        </p:nvPicPr>
        <p:blipFill>
          <a:blip r:embed="rId1"/>
          <a:stretch/>
        </p:blipFill>
        <p:spPr>
          <a:xfrm>
            <a:off x="1372320" y="192600"/>
            <a:ext cx="914328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PlaceHolder 4"/>
          <p:cNvSpPr/>
          <p:nvPr/>
        </p:nvSpPr>
        <p:spPr>
          <a:xfrm rot="3151200">
            <a:off x="-507240" y="2308680"/>
            <a:ext cx="37911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3600" b="0" u="none" strike="noStrike">
                <a:solidFill>
                  <a:schemeClr val="dk2"/>
                </a:solidFill>
                <a:effectLst/>
                <a:uFillTx/>
                <a:latin typeface="Verdana"/>
              </a:rPr>
              <a:t>OVN-</a:t>
            </a:r>
            <a:r>
              <a:rPr lang="en-US" sz="3600" b="0" u="none" spc="-11" strike="noStrike">
                <a:solidFill>
                  <a:schemeClr val="dk2"/>
                </a:solidFill>
                <a:effectLst/>
                <a:uFillTx/>
                <a:latin typeface="Verdana"/>
              </a:rPr>
              <a:t>Kubernetes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icture 10"/>
          <p:cNvPicPr/>
          <p:nvPr/>
        </p:nvPicPr>
        <p:blipFill>
          <a:blip r:embed="rId1"/>
          <a:stretch/>
        </p:blipFill>
        <p:spPr>
          <a:xfrm>
            <a:off x="10940760" y="-9360"/>
            <a:ext cx="1236600" cy="685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PlaceHolder 1"/>
          <p:cNvSpPr>
            <a:spLocks noGrp="1"/>
          </p:cNvSpPr>
          <p:nvPr>
            <p:ph type="dt" idx="33"/>
          </p:nvPr>
        </p:nvSpPr>
        <p:spPr>
          <a:xfrm>
            <a:off x="5427360" y="6472080"/>
            <a:ext cx="1141920" cy="41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24120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defRPr>
            </a:lvl1pPr>
          </a:lstStyle>
          <a:p>
            <a:pPr marL="241200" indent="0" algn="l">
              <a:lnSpc>
                <a:spcPts val="1644"/>
              </a:lnSpc>
              <a:buNone/>
              <a:tabLst>
                <a:tab pos="0" algn="l"/>
              </a:tabLst>
            </a:pPr>
            <a:r>
              <a:rPr lang="en-U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16/06/2023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sldNum" idx="34"/>
          </p:nvPr>
        </p:nvSpPr>
        <p:spPr>
          <a:xfrm>
            <a:off x="11634120" y="6487560"/>
            <a:ext cx="295560" cy="22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3816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26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38160" indent="0" algn="l">
              <a:lnSpc>
                <a:spcPts val="1644"/>
              </a:lnSpc>
              <a:buNone/>
              <a:tabLst>
                <a:tab pos="0" algn="l"/>
              </a:tabLst>
            </a:pPr>
            <a:fld id="{52E98434-FF86-425C-B8E5-65863E283CC9}" type="slidenum">
              <a:rPr lang="en-US" sz="14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title"/>
          </p:nvPr>
        </p:nvSpPr>
        <p:spPr>
          <a:xfrm>
            <a:off x="679320" y="310320"/>
            <a:ext cx="8197560" cy="574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dk2"/>
                </a:solidFill>
                <a:effectLst/>
                <a:uFillTx/>
                <a:latin typeface="Verdana"/>
              </a:rPr>
              <a:t>Technology</a:t>
            </a:r>
            <a:r>
              <a:rPr lang="en-US" sz="3600" b="0" u="none" spc="-65" strike="noStrike">
                <a:solidFill>
                  <a:schemeClr val="dk2"/>
                </a:solidFill>
                <a:effectLst/>
                <a:uFillTx/>
                <a:latin typeface="Verdana"/>
              </a:rPr>
              <a:t> </a:t>
            </a:r>
            <a:r>
              <a:rPr lang="en-US" sz="3600" b="0" u="none" spc="105" strike="noStrike">
                <a:solidFill>
                  <a:schemeClr val="dk2"/>
                </a:solidFill>
                <a:effectLst/>
                <a:uFillTx/>
                <a:latin typeface="Verdana"/>
              </a:rPr>
              <a:t>Highlights</a:t>
            </a:r>
            <a:r>
              <a:rPr lang="en-US" sz="3600" b="0" u="none" spc="-65" strike="noStrike">
                <a:solidFill>
                  <a:schemeClr val="dk2"/>
                </a:solidFill>
                <a:effectLst/>
                <a:uFillTx/>
                <a:latin typeface="Verdana"/>
              </a:rPr>
              <a:t> </a:t>
            </a:r>
            <a:r>
              <a:rPr lang="en-US" sz="3600" b="0" u="none" spc="54" strike="noStrike">
                <a:solidFill>
                  <a:schemeClr val="dk2"/>
                </a:solidFill>
                <a:effectLst/>
                <a:uFillTx/>
                <a:latin typeface="Verdana"/>
              </a:rPr>
              <a:t>Comparison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77" name="object 6"/>
          <p:cNvGraphicFramePr/>
          <p:nvPr/>
        </p:nvGraphicFramePr>
        <p:xfrm>
          <a:off x="1597680" y="1613160"/>
          <a:ext cx="8605800" cy="3832920"/>
        </p:xfrm>
        <a:graphic>
          <a:graphicData uri="http://schemas.openxmlformats.org/drawingml/2006/table">
            <a:tbl>
              <a:tblPr/>
              <a:tblGrid>
                <a:gridCol w="4303080"/>
                <a:gridCol w="4303080"/>
              </a:tblGrid>
              <a:tr h="425880">
                <a:tc>
                  <a:txBody>
                    <a:bodyPr lIns="0" tIns="83160" r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lang="en-US" sz="1600" b="1" u="none" spc="-65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Verdana"/>
                        </a:rPr>
                        <a:t>Legacy</a:t>
                      </a:r>
                      <a:r>
                        <a:rPr lang="en-US" sz="1600" b="1" u="none" spc="-7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Verdana"/>
                        </a:rPr>
                        <a:t> </a:t>
                      </a:r>
                      <a:r>
                        <a:rPr lang="en-US" sz="1600" b="1" u="none" spc="-5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Verdana"/>
                        </a:rPr>
                        <a:t>OpenShift</a:t>
                      </a:r>
                      <a:r>
                        <a:rPr lang="en-US" sz="1600" b="1" u="none" spc="-7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Verdana"/>
                        </a:rPr>
                        <a:t> SDN</a:t>
                      </a:r>
                      <a:r>
                        <a:rPr lang="en-US" sz="1600" b="1" u="none" spc="-65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Verdana"/>
                        </a:rPr>
                        <a:t> </a:t>
                      </a:r>
                      <a:r>
                        <a:rPr lang="en-US" sz="1600" b="1" u="none" spc="-1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Verdana"/>
                        </a:rPr>
                        <a:t>Plugin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83160" marB="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83160" r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lang="en-US" sz="1600" b="1" u="none" spc="-79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Verdana"/>
                        </a:rPr>
                        <a:t>OVN-</a:t>
                      </a:r>
                      <a:r>
                        <a:rPr lang="en-US" sz="1600" b="1" u="none" spc="-1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Verdana"/>
                        </a:rPr>
                        <a:t>Kubernetes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83160" marB="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425880">
                <a:tc>
                  <a:txBody>
                    <a:bodyPr lIns="0" tIns="0" rIns="0" bIns="0" anchor="t">
                      <a:noAutofit/>
                    </a:bodyPr>
                    <a:p>
                      <a:endParaRPr lang="en-US" sz="16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0" marR="0" marT="0" marB="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t">
                      <a:noAutofit/>
                    </a:bodyPr>
                    <a:p>
                      <a:endParaRPr lang="en-US" sz="16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0" marR="0" marT="0" marB="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425880">
                <a:tc>
                  <a:txBody>
                    <a:bodyPr lIns="0" tIns="83160" r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Creates</a:t>
                      </a:r>
                      <a:r>
                        <a:rPr lang="en-US" sz="1600" b="0" u="none" spc="-14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5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veth</a:t>
                      </a:r>
                      <a:r>
                        <a:rPr lang="en-US" sz="1600" b="0" u="none" spc="-1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pairs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83160" marB="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83160" r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Creates</a:t>
                      </a:r>
                      <a:r>
                        <a:rPr lang="en-US" sz="1600" b="0" u="none" spc="-14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5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veth</a:t>
                      </a:r>
                      <a:r>
                        <a:rPr lang="en-US" sz="1600" b="0" u="none" spc="-1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pairs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83160" marB="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425880">
                <a:tc>
                  <a:txBody>
                    <a:bodyPr lIns="0" tIns="83160" r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Creates</a:t>
                      </a:r>
                      <a:r>
                        <a:rPr lang="en-US" sz="1600" b="0" u="none" spc="-40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74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an</a:t>
                      </a:r>
                      <a:r>
                        <a:rPr lang="en-US" sz="1600" b="0" u="none" spc="-40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7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OVS</a:t>
                      </a:r>
                      <a:r>
                        <a:rPr lang="en-US" sz="1600" b="0" u="none" spc="-40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-1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switch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83160" marB="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83160" r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Creates</a:t>
                      </a:r>
                      <a:r>
                        <a:rPr lang="en-US" sz="1600" b="0" u="none" spc="-40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74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an</a:t>
                      </a:r>
                      <a:r>
                        <a:rPr lang="en-US" sz="1600" b="0" u="none" spc="-40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7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OVS</a:t>
                      </a:r>
                      <a:r>
                        <a:rPr lang="en-US" sz="1600" b="0" u="none" spc="-40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-1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switch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83160" marB="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425880">
                <a:tc>
                  <a:txBody>
                    <a:bodyPr lIns="0" tIns="83160" r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Central</a:t>
                      </a:r>
                      <a:r>
                        <a:rPr lang="en-US" sz="1600" b="0" u="none" spc="-3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96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IPAM</a:t>
                      </a:r>
                      <a:r>
                        <a:rPr lang="en-US" sz="1600" b="0" u="none" spc="-26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-1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controller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83160" marB="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83160" r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Central</a:t>
                      </a:r>
                      <a:r>
                        <a:rPr lang="en-US" sz="1600" b="0" u="none" spc="-3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96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IPAM</a:t>
                      </a:r>
                      <a:r>
                        <a:rPr lang="en-US" sz="1600" b="0" u="none" spc="-26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-1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controller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83160" marB="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425880">
                <a:tc>
                  <a:txBody>
                    <a:bodyPr lIns="0" tIns="83160" rIns="0" bIns="0" anchor="t">
                      <a:noAutofit/>
                    </a:bodyPr>
                    <a:p>
                      <a:pPr marL="720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lang="en-US" sz="1600" b="0" u="none" spc="7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OVS</a:t>
                      </a:r>
                      <a:r>
                        <a:rPr lang="en-US" sz="1600" b="0" u="none" spc="-79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ﬂows</a:t>
                      </a:r>
                      <a:r>
                        <a:rPr lang="en-US" sz="1600" b="0" u="none" spc="-74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-20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for</a:t>
                      </a:r>
                      <a:r>
                        <a:rPr lang="en-US" sz="1600" b="0" u="none" spc="-74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5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Network</a:t>
                      </a:r>
                      <a:r>
                        <a:rPr lang="en-US" sz="1600" b="0" u="none" spc="-79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-1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Policies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83160" marB="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83160" rIns="0" bIns="0" anchor="t">
                      <a:noAutofit/>
                    </a:bodyPr>
                    <a:p>
                      <a:pPr marL="720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lang="en-US" sz="1600" b="0" u="none" spc="7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OVS</a:t>
                      </a:r>
                      <a:r>
                        <a:rPr lang="en-US" sz="1600" b="0" u="none" spc="-79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ﬂows</a:t>
                      </a:r>
                      <a:r>
                        <a:rPr lang="en-US" sz="1600" b="0" u="none" spc="-74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-20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for</a:t>
                      </a:r>
                      <a:r>
                        <a:rPr lang="en-US" sz="1600" b="0" u="none" spc="-74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5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Network</a:t>
                      </a:r>
                      <a:r>
                        <a:rPr lang="en-US" sz="1600" b="0" u="none" spc="-79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-1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Policies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83160" marB="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425880">
                <a:tc>
                  <a:txBody>
                    <a:bodyPr lIns="0" tIns="83160" rIns="0" bIns="0" anchor="t">
                      <a:noAutofit/>
                    </a:bodyPr>
                    <a:p>
                      <a:pPr marL="720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lang="en-US" sz="1600" b="0" u="none" spc="5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VXLAN</a:t>
                      </a:r>
                      <a:r>
                        <a:rPr lang="en-US" sz="1600" b="0" u="none" spc="1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tunnels</a:t>
                      </a:r>
                      <a:r>
                        <a:rPr lang="en-US" sz="1600" b="0" u="none" spc="14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79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between</a:t>
                      </a:r>
                      <a:r>
                        <a:rPr lang="en-US" sz="1600" b="0" u="none" spc="14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-1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nodes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83160" marB="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83160" rIns="0" bIns="0" anchor="t">
                      <a:noAutofit/>
                    </a:bodyPr>
                    <a:p>
                      <a:pPr marL="720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lang="en-US" sz="1600" b="0" u="none" spc="130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GENEVE</a:t>
                      </a:r>
                      <a:r>
                        <a:rPr lang="en-US" sz="1600" b="0" u="none" spc="1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tunnels</a:t>
                      </a:r>
                      <a:r>
                        <a:rPr lang="en-US" sz="1600" b="0" u="none" spc="1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79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between</a:t>
                      </a:r>
                      <a:r>
                        <a:rPr lang="en-US" sz="1600" b="0" u="none" spc="14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-20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nodes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83160" marB="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425880">
                <a:tc>
                  <a:txBody>
                    <a:bodyPr lIns="0" tIns="83160" r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IPTable</a:t>
                      </a:r>
                      <a:r>
                        <a:rPr lang="en-US" sz="1600" b="0" u="none" spc="5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Rules</a:t>
                      </a:r>
                      <a:r>
                        <a:rPr lang="en-US" sz="1600" b="0" u="none" spc="54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-20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for</a:t>
                      </a:r>
                      <a:r>
                        <a:rPr lang="en-US" sz="1600" b="0" u="none" spc="54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-1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Services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83160" marB="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83160" r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lang="en-US" sz="1600" b="0" u="none" spc="65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OVN</a:t>
                      </a:r>
                      <a:r>
                        <a:rPr lang="en-US" sz="1600" b="0" u="none" spc="14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constructs</a:t>
                      </a:r>
                      <a:r>
                        <a:rPr lang="en-US" sz="1600" b="0" u="none" spc="20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-20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for</a:t>
                      </a:r>
                      <a:r>
                        <a:rPr lang="en-US" sz="1600" b="0" u="none" spc="14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-1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Services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83160" marB="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425880">
                <a:tc>
                  <a:txBody>
                    <a:bodyPr lIns="0" tIns="83160" r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IPTable</a:t>
                      </a:r>
                      <a:r>
                        <a:rPr lang="en-US" sz="1600" b="0" u="none" spc="5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Rules</a:t>
                      </a:r>
                      <a:r>
                        <a:rPr lang="en-US" sz="1600" b="0" u="none" spc="54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-20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for</a:t>
                      </a:r>
                      <a:r>
                        <a:rPr lang="en-US" sz="1600" b="0" u="none" spc="54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-1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NATing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83160" marB="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83160" r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lang="en-US" sz="1600" b="0" u="none" spc="65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OVN</a:t>
                      </a:r>
                      <a:r>
                        <a:rPr lang="en-US" sz="1600" b="0" u="none" spc="14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constructs</a:t>
                      </a:r>
                      <a:r>
                        <a:rPr lang="en-US" sz="1600" b="0" u="none" spc="20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-20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for</a:t>
                      </a:r>
                      <a:r>
                        <a:rPr lang="en-US" sz="1600" b="0" u="none" spc="14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 </a:t>
                      </a:r>
                      <a:r>
                        <a:rPr lang="en-US" sz="1600" b="0" u="none" spc="-11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Lucida Sans Unicode"/>
                        </a:rPr>
                        <a:t>NATing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83160" marB="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8" name="object 7"/>
          <p:cNvSpPr/>
          <p:nvPr/>
        </p:nvSpPr>
        <p:spPr>
          <a:xfrm>
            <a:off x="1135440" y="930600"/>
            <a:ext cx="890928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600" b="0" u="none" spc="91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Wait</a:t>
            </a:r>
            <a:r>
              <a:rPr lang="en-US" sz="1600" b="0" u="none" spc="-51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51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a</a:t>
            </a:r>
            <a:r>
              <a:rPr lang="en-US" sz="1600" b="0" u="none" spc="-45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Minute…! </a:t>
            </a:r>
            <a:r>
              <a:rPr lang="en-US" sz="1600" b="0" u="none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Does</a:t>
            </a:r>
            <a:r>
              <a:rPr lang="en-US" sz="1600" b="0" u="none" spc="-45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0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that</a:t>
            </a:r>
            <a:r>
              <a:rPr lang="en-US" sz="1600" b="0" u="none" spc="-45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look</a:t>
            </a:r>
            <a:r>
              <a:rPr lang="en-US" sz="1600" b="0" u="none" spc="-45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too</a:t>
            </a:r>
            <a:r>
              <a:rPr lang="en-US" sz="1600" b="0" u="none" spc="-45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familiar?</a:t>
            </a:r>
            <a:r>
              <a:rPr lang="en-US" sz="1600" b="0" u="none" spc="-45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If</a:t>
            </a:r>
            <a:r>
              <a:rPr lang="en-US" sz="1600" b="0" u="none" spc="-45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-79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so,</a:t>
            </a:r>
            <a:r>
              <a:rPr lang="en-US" sz="1600" b="0" u="none" spc="-45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79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what</a:t>
            </a:r>
            <a:r>
              <a:rPr lang="en-US" sz="1600" b="0" u="none" spc="-45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71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changed</a:t>
            </a:r>
            <a:r>
              <a:rPr lang="en-US" sz="1600" b="0" u="none" spc="-45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5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and</a:t>
            </a:r>
            <a:r>
              <a:rPr lang="en-US" sz="1600" b="0" u="none" spc="-45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85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why</a:t>
            </a:r>
            <a:r>
              <a:rPr lang="en-US" sz="1600" b="0" u="none" spc="-45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did</a:t>
            </a:r>
            <a:r>
              <a:rPr lang="en-US" sz="1600" b="0" u="none" spc="-51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99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we</a:t>
            </a:r>
            <a:r>
              <a:rPr lang="en-US" sz="1600" b="0" u="none" spc="-45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 </a:t>
            </a:r>
            <a:r>
              <a:rPr lang="en-US" sz="1600" b="0" u="none" spc="60" strike="noStrike">
                <a:solidFill>
                  <a:srgbClr val="595959"/>
                </a:solidFill>
                <a:effectLst/>
                <a:uFillTx/>
                <a:latin typeface="Lucida Sans Unicode"/>
              </a:rPr>
              <a:t>move?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object 8"/>
          <p:cNvSpPr/>
          <p:nvPr/>
        </p:nvSpPr>
        <p:spPr>
          <a:xfrm>
            <a:off x="1795680" y="5686560"/>
            <a:ext cx="6569280" cy="6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300240" indent="-28764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OpenSymbol"/>
              <a:buChar char="-"/>
              <a:tabLst>
                <a:tab pos="30024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veth</a:t>
            </a:r>
            <a:r>
              <a:rPr lang="en-US" sz="1400" b="0" u="none" spc="-34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-</a:t>
            </a:r>
            <a:r>
              <a:rPr lang="en-US" sz="1400" b="0" u="none" spc="-31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Virtual</a:t>
            </a:r>
            <a:r>
              <a:rPr lang="en-US" sz="1400" b="0" u="none" spc="-31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1400" b="0" u="none" spc="-11" strike="noStrike">
                <a:solidFill>
                  <a:srgbClr val="000000"/>
                </a:solidFill>
                <a:effectLst/>
                <a:uFillTx/>
                <a:latin typeface="Arial MT"/>
              </a:rPr>
              <a:t>Ethernet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0240" indent="-28764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  <a:tabLst>
                <a:tab pos="300240" algn="l"/>
              </a:tabLst>
            </a:pPr>
            <a:r>
              <a:rPr lang="en-US" sz="1400" b="0" u="none" spc="-20" strike="noStrike">
                <a:solidFill>
                  <a:srgbClr val="000000"/>
                </a:solidFill>
                <a:effectLst/>
                <a:uFillTx/>
                <a:latin typeface="Arial MT"/>
              </a:rPr>
              <a:t>IPAM</a:t>
            </a:r>
            <a:r>
              <a:rPr lang="en-US" sz="1400" b="0" u="none" spc="-26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-</a:t>
            </a:r>
            <a:r>
              <a:rPr lang="en-US" sz="1400" b="0" u="none" spc="-20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Internet</a:t>
            </a:r>
            <a:r>
              <a:rPr lang="en-US" sz="1400" b="0" u="none" spc="-14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1400" b="0" u="none" spc="-11" strike="noStrike">
                <a:solidFill>
                  <a:srgbClr val="000000"/>
                </a:solidFill>
                <a:effectLst/>
                <a:uFillTx/>
                <a:latin typeface="Arial MT"/>
              </a:rPr>
              <a:t>Protocol</a:t>
            </a:r>
            <a:r>
              <a:rPr lang="en-US" sz="1400" b="0" u="none" spc="-91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Address</a:t>
            </a:r>
            <a:r>
              <a:rPr lang="en-US" sz="1400" b="0" u="none" spc="-14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Manager</a:t>
            </a:r>
            <a:r>
              <a:rPr lang="en-US" sz="1400" b="0" u="none" spc="-20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(here</a:t>
            </a:r>
            <a:r>
              <a:rPr lang="en-US" sz="1400" b="0" u="none" spc="-20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in</a:t>
            </a:r>
            <a:r>
              <a:rPr lang="en-US" sz="1400" b="0" u="none" spc="-14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context</a:t>
            </a:r>
            <a:r>
              <a:rPr lang="en-US" sz="1400" b="0" u="none" spc="-20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of</a:t>
            </a:r>
            <a:r>
              <a:rPr lang="en-US" sz="1400" b="0" u="none" spc="-20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allocating</a:t>
            </a:r>
            <a:r>
              <a:rPr lang="en-US" sz="1400" b="0" u="none" spc="-14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1400" b="0" u="none" spc="-11" strike="noStrike">
                <a:solidFill>
                  <a:srgbClr val="000000"/>
                </a:solidFill>
                <a:effectLst/>
                <a:uFillTx/>
                <a:latin typeface="Arial MT"/>
              </a:rPr>
              <a:t>podIPs)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icture 6"/>
          <p:cNvPicPr/>
          <p:nvPr/>
        </p:nvPicPr>
        <p:blipFill>
          <a:blip r:embed="rId1"/>
          <a:stretch/>
        </p:blipFill>
        <p:spPr>
          <a:xfrm rot="16200000">
            <a:off x="5727240" y="409320"/>
            <a:ext cx="719640" cy="1217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AutoShape 4" descr="OVN-Kubernetes networking diagram in detail"/>
          <p:cNvSpPr/>
          <p:nvPr/>
        </p:nvSpPr>
        <p:spPr>
          <a:xfrm>
            <a:off x="5937120" y="3276720"/>
            <a:ext cx="303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" name="Picture 4"/>
          <p:cNvPicPr/>
          <p:nvPr/>
        </p:nvPicPr>
        <p:blipFill>
          <a:blip r:embed="rId2"/>
          <a:stretch/>
        </p:blipFill>
        <p:spPr>
          <a:xfrm>
            <a:off x="40320" y="88560"/>
            <a:ext cx="8943480" cy="5961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Box 2"/>
          <p:cNvSpPr/>
          <p:nvPr/>
        </p:nvSpPr>
        <p:spPr>
          <a:xfrm>
            <a:off x="222120" y="335880"/>
            <a:ext cx="11047320" cy="58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Northbound DB (OVN NB DB)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Stores the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desired network state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Pod network configuration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Services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Network policies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Logical switches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Logical routers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When Kubernetes creates a Pod or NetworkPolicy, OVN-Kubernetes writes the desired networking configuration into the Northbound DB.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800"/>
            </a:b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ovn-northd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daemon that acts as a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translator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Reads desired network state from the Northbound DB.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Generates low-level logical networking rules.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Writes those rules into the Southbound DB.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does not configure nodes directly.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800"/>
            </a:b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Box 2"/>
          <p:cNvSpPr/>
          <p:nvPr/>
        </p:nvSpPr>
        <p:spPr>
          <a:xfrm>
            <a:off x="1136520" y="892440"/>
            <a:ext cx="799812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Southbound DB (OVN SB DB)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Stores the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network instructions that nodes need to implement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Contains: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Logical flows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Port bindings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Tunnel information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Node (chassis) information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Worker nodes consume information from the Southbound DB.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800"/>
            </a:b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ovn-controller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Runs on every worker node.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Reads instructions from the Southbound DB.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Programs Open vSwitch (OVS) on that node.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Keeps the node networking synchronized with OVN.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Picture 5"/>
          <p:cNvPicPr/>
          <p:nvPr/>
        </p:nvPicPr>
        <p:blipFill>
          <a:blip r:embed="rId1"/>
          <a:stretch/>
        </p:blipFill>
        <p:spPr>
          <a:xfrm>
            <a:off x="7308720" y="10080"/>
            <a:ext cx="4570200" cy="685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extBox 4"/>
          <p:cNvSpPr/>
          <p:nvPr/>
        </p:nvSpPr>
        <p:spPr>
          <a:xfrm>
            <a:off x="146160" y="0"/>
            <a:ext cx="6089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Networking Stack Relationship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7"/>
          <p:cNvSpPr/>
          <p:nvPr/>
        </p:nvSpPr>
        <p:spPr>
          <a:xfrm>
            <a:off x="1517760" y="3613320"/>
            <a:ext cx="608904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Kubernetes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</a:t>
            </a: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OVN-Kubernetes (CNI Plugin)</a:t>
            </a:r>
            <a:br>
              <a:rPr sz="1800"/>
            </a:b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OVN (Network Control Plane)</a:t>
            </a:r>
            <a:br>
              <a:rPr sz="1800"/>
            </a:b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 vSwitch (Data Plane)</a:t>
            </a:r>
            <a:br>
              <a:rPr sz="1800"/>
            </a:b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Linux Kernel Networking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Arrow: Down 8"/>
          <p:cNvSpPr/>
          <p:nvPr/>
        </p:nvSpPr>
        <p:spPr>
          <a:xfrm>
            <a:off x="2094120" y="4113360"/>
            <a:ext cx="226800" cy="3031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Arrow: Down 9"/>
          <p:cNvSpPr/>
          <p:nvPr/>
        </p:nvSpPr>
        <p:spPr>
          <a:xfrm>
            <a:off x="2118240" y="4765680"/>
            <a:ext cx="226800" cy="3031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Arrow: Down 11"/>
          <p:cNvSpPr/>
          <p:nvPr/>
        </p:nvSpPr>
        <p:spPr>
          <a:xfrm>
            <a:off x="2094120" y="5349600"/>
            <a:ext cx="226800" cy="3031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Arrow: Down 12"/>
          <p:cNvSpPr/>
          <p:nvPr/>
        </p:nvSpPr>
        <p:spPr>
          <a:xfrm>
            <a:off x="2118240" y="5910840"/>
            <a:ext cx="226800" cy="3031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14"/>
          <p:cNvSpPr/>
          <p:nvPr/>
        </p:nvSpPr>
        <p:spPr>
          <a:xfrm>
            <a:off x="450720" y="642600"/>
            <a:ext cx="60890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Kubernetes API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Stores cluster state (pods, nodes, services)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Networking plugins watch this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OVN-Kubernetes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Network Plugin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Creates networking for pods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Talks to OVN to configure networking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Kubernetes → tells → OVN-Kubernetes → configures → OVN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Picture 14" descr="Blue Powerpoint Images – Browse 140,337 Stock Photos, Vectors, and Video |  Adobe Stock"/>
          <p:cNvPicPr/>
          <p:nvPr/>
        </p:nvPicPr>
        <p:blipFill>
          <a:blip r:embed="rId1"/>
          <a:stretch/>
        </p:blipFill>
        <p:spPr>
          <a:xfrm>
            <a:off x="18360" y="-12240"/>
            <a:ext cx="12159360" cy="686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PlaceHolder 1"/>
          <p:cNvSpPr>
            <a:spLocks noGrp="1"/>
          </p:cNvSpPr>
          <p:nvPr>
            <p:ph type="dt" idx="35"/>
          </p:nvPr>
        </p:nvSpPr>
        <p:spPr>
          <a:xfrm>
            <a:off x="5427360" y="6472080"/>
            <a:ext cx="1141920" cy="21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24120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defRPr>
            </a:lvl1pPr>
          </a:lstStyle>
          <a:p>
            <a:pPr marL="241200" indent="0" algn="l">
              <a:lnSpc>
                <a:spcPts val="1644"/>
              </a:lnSpc>
              <a:buNone/>
              <a:tabLst>
                <a:tab pos="0" algn="l"/>
              </a:tabLst>
            </a:pPr>
            <a:r>
              <a:rPr lang="en-US" sz="140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VP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sldNum" idx="36"/>
          </p:nvPr>
        </p:nvSpPr>
        <p:spPr>
          <a:xfrm>
            <a:off x="11634120" y="6487560"/>
            <a:ext cx="295560" cy="22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3816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26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38160" indent="0" algn="l">
              <a:lnSpc>
                <a:spcPts val="1644"/>
              </a:lnSpc>
              <a:buNone/>
              <a:tabLst>
                <a:tab pos="0" algn="l"/>
              </a:tabLst>
            </a:pPr>
            <a:fld id="{8D086222-0966-4F0E-A7EA-1F9EAB9A811A}" type="slidenum">
              <a:rPr lang="en-US" sz="14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title"/>
          </p:nvPr>
        </p:nvSpPr>
        <p:spPr>
          <a:xfrm>
            <a:off x="1365120" y="2881440"/>
            <a:ext cx="7321320" cy="69840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4400" b="1" u="none" spc="-235" strike="noStrike">
                <a:solidFill>
                  <a:srgbClr val="FFFFFF"/>
                </a:solidFill>
                <a:effectLst/>
                <a:uFillTx/>
                <a:latin typeface="Verdana"/>
              </a:rPr>
              <a:t>Route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7" name="object 3"/>
          <p:cNvSpPr/>
          <p:nvPr/>
        </p:nvSpPr>
        <p:spPr>
          <a:xfrm>
            <a:off x="298440" y="3581280"/>
            <a:ext cx="79160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Lucida Sans Unicode"/>
              </a:rPr>
              <a:t>TLS termination Edge, PassThrough, re-encrypt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0"/>
          <p:cNvSpPr/>
          <p:nvPr/>
        </p:nvSpPr>
        <p:spPr>
          <a:xfrm>
            <a:off x="0" y="3600"/>
            <a:ext cx="12177360" cy="1216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"/>
          <p:cNvSpPr/>
          <p:nvPr/>
        </p:nvSpPr>
        <p:spPr>
          <a:xfrm>
            <a:off x="0" y="3600"/>
            <a:ext cx="607320" cy="12160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"/>
          <p:cNvSpPr/>
          <p:nvPr/>
        </p:nvSpPr>
        <p:spPr>
          <a:xfrm>
            <a:off x="791640" y="3600"/>
            <a:ext cx="10959480" cy="12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93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  Create and Edit External Routes</a:t>
            </a:r>
            <a:endParaRPr lang="en-US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3"/>
          <p:cNvSpPr/>
          <p:nvPr/>
        </p:nvSpPr>
        <p:spPr>
          <a:xfrm>
            <a:off x="365400" y="1282320"/>
            <a:ext cx="54788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1A2B4A"/>
                </a:solidFill>
                <a:effectLst/>
                <a:uFillTx/>
                <a:latin typeface="Calibri"/>
                <a:ea typeface="Calibri"/>
              </a:rPr>
              <a:t>Route Types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4"/>
          <p:cNvSpPr/>
          <p:nvPr/>
        </p:nvSpPr>
        <p:spPr>
          <a:xfrm>
            <a:off x="365400" y="1806120"/>
            <a:ext cx="5478840" cy="87516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5"/>
          <p:cNvSpPr/>
          <p:nvPr/>
        </p:nvSpPr>
        <p:spPr>
          <a:xfrm>
            <a:off x="365400" y="1806120"/>
            <a:ext cx="83520" cy="875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1760" tIns="45000" rIns="417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6"/>
          <p:cNvSpPr/>
          <p:nvPr/>
        </p:nvSpPr>
        <p:spPr>
          <a:xfrm>
            <a:off x="584640" y="1830600"/>
            <a:ext cx="511344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1A2B4A"/>
                </a:solidFill>
                <a:effectLst/>
                <a:uFillTx/>
                <a:latin typeface="Calibri"/>
                <a:ea typeface="Calibri"/>
              </a:rPr>
              <a:t>Simple Route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7"/>
          <p:cNvSpPr/>
          <p:nvPr/>
        </p:nvSpPr>
        <p:spPr>
          <a:xfrm>
            <a:off x="584640" y="2196000"/>
            <a:ext cx="511344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HTTP, no TLS, basic hostname mapping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8"/>
          <p:cNvSpPr/>
          <p:nvPr/>
        </p:nvSpPr>
        <p:spPr>
          <a:xfrm>
            <a:off x="365400" y="2817000"/>
            <a:ext cx="5478840" cy="87516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9"/>
          <p:cNvSpPr/>
          <p:nvPr/>
        </p:nvSpPr>
        <p:spPr>
          <a:xfrm>
            <a:off x="365400" y="2817000"/>
            <a:ext cx="83520" cy="875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1760" tIns="45000" rIns="417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0"/>
          <p:cNvSpPr/>
          <p:nvPr/>
        </p:nvSpPr>
        <p:spPr>
          <a:xfrm>
            <a:off x="584640" y="2841480"/>
            <a:ext cx="511344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1A2B4A"/>
                </a:solidFill>
                <a:effectLst/>
                <a:uFillTx/>
                <a:latin typeface="Calibri"/>
                <a:ea typeface="Calibri"/>
              </a:rPr>
              <a:t>Edge TLS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1"/>
          <p:cNvSpPr/>
          <p:nvPr/>
        </p:nvSpPr>
        <p:spPr>
          <a:xfrm>
            <a:off x="584640" y="3206880"/>
            <a:ext cx="511344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TLS terminated at router, traffic plain inside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2"/>
          <p:cNvSpPr/>
          <p:nvPr/>
        </p:nvSpPr>
        <p:spPr>
          <a:xfrm>
            <a:off x="365400" y="3827880"/>
            <a:ext cx="5478840" cy="87516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3"/>
          <p:cNvSpPr/>
          <p:nvPr/>
        </p:nvSpPr>
        <p:spPr>
          <a:xfrm>
            <a:off x="365400" y="3827880"/>
            <a:ext cx="83520" cy="875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1760" tIns="45000" rIns="417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4"/>
          <p:cNvSpPr/>
          <p:nvPr/>
        </p:nvSpPr>
        <p:spPr>
          <a:xfrm>
            <a:off x="584640" y="3852360"/>
            <a:ext cx="511344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1A2B4A"/>
                </a:solidFill>
                <a:effectLst/>
                <a:uFillTx/>
                <a:latin typeface="Calibri"/>
                <a:ea typeface="Calibri"/>
              </a:rPr>
              <a:t>Passthrough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5"/>
          <p:cNvSpPr/>
          <p:nvPr/>
        </p:nvSpPr>
        <p:spPr>
          <a:xfrm>
            <a:off x="584640" y="4217760"/>
            <a:ext cx="511344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Encrypted end-to-end to pod (no decryption)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6"/>
          <p:cNvSpPr/>
          <p:nvPr/>
        </p:nvSpPr>
        <p:spPr>
          <a:xfrm>
            <a:off x="365400" y="4838760"/>
            <a:ext cx="5478840" cy="87516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7"/>
          <p:cNvSpPr/>
          <p:nvPr/>
        </p:nvSpPr>
        <p:spPr>
          <a:xfrm>
            <a:off x="365400" y="4838760"/>
            <a:ext cx="83520" cy="8751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1760" tIns="45000" rIns="417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8"/>
          <p:cNvSpPr/>
          <p:nvPr/>
        </p:nvSpPr>
        <p:spPr>
          <a:xfrm>
            <a:off x="584640" y="4863240"/>
            <a:ext cx="511344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1A2B4A"/>
                </a:solidFill>
                <a:effectLst/>
                <a:uFillTx/>
                <a:latin typeface="Calibri"/>
                <a:ea typeface="Calibri"/>
              </a:rPr>
              <a:t>Re-encrypt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9"/>
          <p:cNvSpPr/>
          <p:nvPr/>
        </p:nvSpPr>
        <p:spPr>
          <a:xfrm>
            <a:off x="584640" y="5228640"/>
            <a:ext cx="511344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Router decrypts → re-encrypts to pod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0"/>
          <p:cNvSpPr/>
          <p:nvPr/>
        </p:nvSpPr>
        <p:spPr>
          <a:xfrm>
            <a:off x="6211440" y="1282320"/>
            <a:ext cx="560052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1A2B4A"/>
                </a:solidFill>
                <a:effectLst/>
                <a:uFillTx/>
                <a:latin typeface="Calibri"/>
                <a:ea typeface="Calibri"/>
              </a:rPr>
              <a:t>Example: Create a Simple Route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21"/>
          <p:cNvSpPr/>
          <p:nvPr/>
        </p:nvSpPr>
        <p:spPr>
          <a:xfrm>
            <a:off x="6211440" y="1806120"/>
            <a:ext cx="5600520" cy="4626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round/>
          </a:ln>
          <a:effectLst>
            <a:outerShdw algn="bl" blurRad="101520" dir="8100000" dist="37674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2"/>
          <p:cNvSpPr/>
          <p:nvPr/>
        </p:nvSpPr>
        <p:spPr>
          <a:xfrm>
            <a:off x="6393960" y="1927800"/>
            <a:ext cx="52351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# Expose a service as a route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3"/>
          <p:cNvSpPr/>
          <p:nvPr/>
        </p:nvSpPr>
        <p:spPr>
          <a:xfrm>
            <a:off x="6393960" y="2177640"/>
            <a:ext cx="52351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7DD3FC"/>
                </a:solidFill>
                <a:effectLst/>
                <a:uFillTx/>
                <a:latin typeface="Consolas"/>
                <a:ea typeface="Consolas"/>
              </a:rPr>
              <a:t>$ oc expose svc/my-app \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4"/>
          <p:cNvSpPr/>
          <p:nvPr/>
        </p:nvSpPr>
        <p:spPr>
          <a:xfrm>
            <a:off x="6393960" y="2427120"/>
            <a:ext cx="52351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7DD3FC"/>
                </a:solidFill>
                <a:effectLst/>
                <a:uFillTx/>
                <a:latin typeface="Consolas"/>
                <a:ea typeface="Consolas"/>
              </a:rPr>
              <a:t>    --hostname=myapp.apps.example.com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5"/>
          <p:cNvSpPr/>
          <p:nvPr/>
        </p:nvSpPr>
        <p:spPr>
          <a:xfrm>
            <a:off x="6393960" y="2676960"/>
            <a:ext cx="52351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6"/>
          <p:cNvSpPr/>
          <p:nvPr/>
        </p:nvSpPr>
        <p:spPr>
          <a:xfrm>
            <a:off x="6393960" y="2926440"/>
            <a:ext cx="52351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# Or use YAML: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7"/>
          <p:cNvSpPr/>
          <p:nvPr/>
        </p:nvSpPr>
        <p:spPr>
          <a:xfrm>
            <a:off x="6393960" y="3176280"/>
            <a:ext cx="52351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FCD34D"/>
                </a:solidFill>
                <a:effectLst/>
                <a:uFillTx/>
                <a:latin typeface="Consolas"/>
                <a:ea typeface="Consolas"/>
              </a:rPr>
              <a:t>apiVersion: route.openshift.io/v1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8"/>
          <p:cNvSpPr/>
          <p:nvPr/>
        </p:nvSpPr>
        <p:spPr>
          <a:xfrm>
            <a:off x="6393960" y="3426120"/>
            <a:ext cx="52351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FCD34D"/>
                </a:solidFill>
                <a:effectLst/>
                <a:uFillTx/>
                <a:latin typeface="Consolas"/>
                <a:ea typeface="Consolas"/>
              </a:rPr>
              <a:t>kind: Route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9"/>
          <p:cNvSpPr/>
          <p:nvPr/>
        </p:nvSpPr>
        <p:spPr>
          <a:xfrm>
            <a:off x="6393960" y="3675600"/>
            <a:ext cx="52351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metadata: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30"/>
          <p:cNvSpPr/>
          <p:nvPr/>
        </p:nvSpPr>
        <p:spPr>
          <a:xfrm>
            <a:off x="6393960" y="3925440"/>
            <a:ext cx="52351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86EFAC"/>
                </a:solidFill>
                <a:effectLst/>
                <a:uFillTx/>
                <a:latin typeface="Consolas"/>
                <a:ea typeface="Consolas"/>
              </a:rPr>
              <a:t>  name: my-app-route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31"/>
          <p:cNvSpPr/>
          <p:nvPr/>
        </p:nvSpPr>
        <p:spPr>
          <a:xfrm>
            <a:off x="6393960" y="4174920"/>
            <a:ext cx="52351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spec: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32"/>
          <p:cNvSpPr/>
          <p:nvPr/>
        </p:nvSpPr>
        <p:spPr>
          <a:xfrm>
            <a:off x="6393960" y="4424760"/>
            <a:ext cx="52351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86EFAC"/>
                </a:solidFill>
                <a:effectLst/>
                <a:uFillTx/>
                <a:latin typeface="Consolas"/>
                <a:ea typeface="Consolas"/>
              </a:rPr>
              <a:t>  host: myapp.apps.example.com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33"/>
          <p:cNvSpPr/>
          <p:nvPr/>
        </p:nvSpPr>
        <p:spPr>
          <a:xfrm>
            <a:off x="6393960" y="4674240"/>
            <a:ext cx="52351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to: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34"/>
          <p:cNvSpPr/>
          <p:nvPr/>
        </p:nvSpPr>
        <p:spPr>
          <a:xfrm>
            <a:off x="6393960" y="4924080"/>
            <a:ext cx="52351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86EFAC"/>
                </a:solidFill>
                <a:effectLst/>
                <a:uFillTx/>
                <a:latin typeface="Consolas"/>
                <a:ea typeface="Consolas"/>
              </a:rPr>
              <a:t>    kind: Service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35"/>
          <p:cNvSpPr/>
          <p:nvPr/>
        </p:nvSpPr>
        <p:spPr>
          <a:xfrm>
            <a:off x="6393960" y="5173560"/>
            <a:ext cx="52351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86EFAC"/>
                </a:solidFill>
                <a:effectLst/>
                <a:uFillTx/>
                <a:latin typeface="Consolas"/>
                <a:ea typeface="Consolas"/>
              </a:rPr>
              <a:t>    name: my-app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36"/>
          <p:cNvSpPr/>
          <p:nvPr/>
        </p:nvSpPr>
        <p:spPr>
          <a:xfrm>
            <a:off x="6393960" y="5423400"/>
            <a:ext cx="52351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port: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37"/>
          <p:cNvSpPr/>
          <p:nvPr/>
        </p:nvSpPr>
        <p:spPr>
          <a:xfrm>
            <a:off x="6393960" y="5672880"/>
            <a:ext cx="52351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86EFAC"/>
                </a:solidFill>
                <a:effectLst/>
                <a:uFillTx/>
                <a:latin typeface="Consolas"/>
                <a:ea typeface="Consolas"/>
              </a:rPr>
              <a:t>    targetPort: 8080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38"/>
          <p:cNvSpPr/>
          <p:nvPr/>
        </p:nvSpPr>
        <p:spPr>
          <a:xfrm>
            <a:off x="6393960" y="5922720"/>
            <a:ext cx="52351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# Apply it: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39"/>
          <p:cNvSpPr/>
          <p:nvPr/>
        </p:nvSpPr>
        <p:spPr>
          <a:xfrm>
            <a:off x="6393960" y="6172560"/>
            <a:ext cx="52351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7DD3FC"/>
                </a:solidFill>
                <a:effectLst/>
                <a:uFillTx/>
                <a:latin typeface="Consolas"/>
                <a:ea typeface="Consolas"/>
              </a:rPr>
              <a:t>$ oc apply -f route.yaml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0"/>
          <p:cNvSpPr/>
          <p:nvPr/>
        </p:nvSpPr>
        <p:spPr>
          <a:xfrm>
            <a:off x="0" y="3600"/>
            <a:ext cx="12177360" cy="1216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"/>
          <p:cNvSpPr/>
          <p:nvPr/>
        </p:nvSpPr>
        <p:spPr>
          <a:xfrm>
            <a:off x="0" y="3600"/>
            <a:ext cx="607320" cy="12160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"/>
          <p:cNvSpPr/>
          <p:nvPr/>
        </p:nvSpPr>
        <p:spPr>
          <a:xfrm>
            <a:off x="791640" y="3600"/>
            <a:ext cx="10959480" cy="12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79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05  Secure Traffic Using TLS Certificates</a:t>
            </a:r>
            <a:endParaRPr lang="en-US" sz="2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"/>
          <p:cNvSpPr/>
          <p:nvPr/>
        </p:nvSpPr>
        <p:spPr>
          <a:xfrm>
            <a:off x="365400" y="1319040"/>
            <a:ext cx="54788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1A2B4A"/>
                </a:solidFill>
                <a:effectLst/>
                <a:uFillTx/>
                <a:latin typeface="Calibri"/>
                <a:ea typeface="Calibri"/>
              </a:rPr>
              <a:t>TLS Termination Types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4"/>
          <p:cNvSpPr/>
          <p:nvPr/>
        </p:nvSpPr>
        <p:spPr>
          <a:xfrm>
            <a:off x="365400" y="1854720"/>
            <a:ext cx="5478840" cy="128916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5"/>
          <p:cNvSpPr/>
          <p:nvPr/>
        </p:nvSpPr>
        <p:spPr>
          <a:xfrm>
            <a:off x="365400" y="1854720"/>
            <a:ext cx="83520" cy="1289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1760" tIns="45000" rIns="417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6"/>
          <p:cNvSpPr/>
          <p:nvPr/>
        </p:nvSpPr>
        <p:spPr>
          <a:xfrm>
            <a:off x="584640" y="1879200"/>
            <a:ext cx="1094400" cy="339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7"/>
          <p:cNvSpPr/>
          <p:nvPr/>
        </p:nvSpPr>
        <p:spPr>
          <a:xfrm>
            <a:off x="584640" y="1879200"/>
            <a:ext cx="109440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7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Edge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8"/>
          <p:cNvSpPr/>
          <p:nvPr/>
        </p:nvSpPr>
        <p:spPr>
          <a:xfrm>
            <a:off x="592920" y="2488320"/>
            <a:ext cx="511344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TLS ends at router. </a:t>
            </a: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Pod receives plain HTTP. Use: public web apps.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Client  --- HTTPS ---&gt;  OpenShift Router  --- HTTP ---&gt;  Pod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9"/>
          <p:cNvSpPr/>
          <p:nvPr/>
        </p:nvSpPr>
        <p:spPr>
          <a:xfrm>
            <a:off x="365400" y="3291840"/>
            <a:ext cx="5478840" cy="128916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0"/>
          <p:cNvSpPr/>
          <p:nvPr/>
        </p:nvSpPr>
        <p:spPr>
          <a:xfrm>
            <a:off x="365400" y="3291840"/>
            <a:ext cx="83520" cy="1289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1760" tIns="45000" rIns="417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1"/>
          <p:cNvSpPr/>
          <p:nvPr/>
        </p:nvSpPr>
        <p:spPr>
          <a:xfrm>
            <a:off x="584640" y="3316320"/>
            <a:ext cx="1094400" cy="339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2"/>
          <p:cNvSpPr/>
          <p:nvPr/>
        </p:nvSpPr>
        <p:spPr>
          <a:xfrm>
            <a:off x="584640" y="3316320"/>
            <a:ext cx="109440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7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Passthrough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3"/>
          <p:cNvSpPr/>
          <p:nvPr/>
        </p:nvSpPr>
        <p:spPr>
          <a:xfrm>
            <a:off x="584640" y="3754800"/>
            <a:ext cx="511344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Router passes encrypted traffic to pod. </a:t>
            </a: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Pod handles TLS</a:t>
            </a: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Client  --- HTTPS ---&gt;  Router  --- HTTPS ---&gt;  Pod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4"/>
          <p:cNvSpPr/>
          <p:nvPr/>
        </p:nvSpPr>
        <p:spPr>
          <a:xfrm>
            <a:off x="365400" y="4729320"/>
            <a:ext cx="5478840" cy="128916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5"/>
          <p:cNvSpPr/>
          <p:nvPr/>
        </p:nvSpPr>
        <p:spPr>
          <a:xfrm>
            <a:off x="365400" y="4729320"/>
            <a:ext cx="83520" cy="12891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1760" tIns="45000" rIns="417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6"/>
          <p:cNvSpPr/>
          <p:nvPr/>
        </p:nvSpPr>
        <p:spPr>
          <a:xfrm>
            <a:off x="584640" y="4753440"/>
            <a:ext cx="1094400" cy="3391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7"/>
          <p:cNvSpPr/>
          <p:nvPr/>
        </p:nvSpPr>
        <p:spPr>
          <a:xfrm>
            <a:off x="584640" y="4753440"/>
            <a:ext cx="109440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7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Re-encrypt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8"/>
          <p:cNvSpPr/>
          <p:nvPr/>
        </p:nvSpPr>
        <p:spPr>
          <a:xfrm>
            <a:off x="595440" y="5367240"/>
            <a:ext cx="511344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Router decrypts, then re-encrypts with its own cert to pod.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Client </a:t>
            </a: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--- HTTPS ---&gt; Router </a:t>
            </a: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--- HTTPS (</a:t>
            </a: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new TLS) ---&gt; Pod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9"/>
          <p:cNvSpPr/>
          <p:nvPr/>
        </p:nvSpPr>
        <p:spPr>
          <a:xfrm>
            <a:off x="6211440" y="1319040"/>
            <a:ext cx="560052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1A2B4A"/>
                </a:solidFill>
                <a:effectLst/>
                <a:uFillTx/>
                <a:latin typeface="Calibri"/>
                <a:ea typeface="Calibri"/>
              </a:rPr>
              <a:t>Create TLS Edge Route — Example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20"/>
          <p:cNvSpPr/>
          <p:nvPr/>
        </p:nvSpPr>
        <p:spPr>
          <a:xfrm>
            <a:off x="6211440" y="1854720"/>
            <a:ext cx="5600520" cy="477252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round/>
          </a:ln>
          <a:effectLst>
            <a:outerShdw algn="bl" blurRad="101520" dir="8100000" dist="37674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1"/>
          <p:cNvSpPr/>
          <p:nvPr/>
        </p:nvSpPr>
        <p:spPr>
          <a:xfrm>
            <a:off x="6393960" y="1976760"/>
            <a:ext cx="52351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# 1. Generate self-signed cert (for testing)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22"/>
          <p:cNvSpPr/>
          <p:nvPr/>
        </p:nvSpPr>
        <p:spPr>
          <a:xfrm>
            <a:off x="6393960" y="2250720"/>
            <a:ext cx="52351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7DD3FC"/>
                </a:solidFill>
                <a:effectLst/>
                <a:uFillTx/>
                <a:latin typeface="Consolas"/>
                <a:ea typeface="Consolas"/>
              </a:rPr>
              <a:t>$ openssl req -x509 -nodes -days 365 \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23"/>
          <p:cNvSpPr/>
          <p:nvPr/>
        </p:nvSpPr>
        <p:spPr>
          <a:xfrm>
            <a:off x="6393960" y="2524680"/>
            <a:ext cx="52351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7DD3FC"/>
                </a:solidFill>
                <a:effectLst/>
                <a:uFillTx/>
                <a:latin typeface="Consolas"/>
                <a:ea typeface="Consolas"/>
              </a:rPr>
              <a:t>    -newkey rsa:2048 \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4"/>
          <p:cNvSpPr/>
          <p:nvPr/>
        </p:nvSpPr>
        <p:spPr>
          <a:xfrm>
            <a:off x="6393960" y="2798640"/>
            <a:ext cx="52351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7DD3FC"/>
                </a:solidFill>
                <a:effectLst/>
                <a:uFillTx/>
                <a:latin typeface="Consolas"/>
                <a:ea typeface="Consolas"/>
              </a:rPr>
              <a:t>    -keyout tls.key -out tls.crt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5"/>
          <p:cNvSpPr/>
          <p:nvPr/>
        </p:nvSpPr>
        <p:spPr>
          <a:xfrm>
            <a:off x="6393960" y="3072600"/>
            <a:ext cx="52351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6"/>
          <p:cNvSpPr/>
          <p:nvPr/>
        </p:nvSpPr>
        <p:spPr>
          <a:xfrm>
            <a:off x="6393960" y="3346920"/>
            <a:ext cx="52351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# 2. Create TLS secret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7"/>
          <p:cNvSpPr/>
          <p:nvPr/>
        </p:nvSpPr>
        <p:spPr>
          <a:xfrm>
            <a:off x="6393960" y="3620880"/>
            <a:ext cx="52351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7DD3FC"/>
                </a:solidFill>
                <a:effectLst/>
                <a:uFillTx/>
                <a:latin typeface="Consolas"/>
                <a:ea typeface="Consolas"/>
              </a:rPr>
              <a:t>$ oc create secret tls my-tls-secret \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28"/>
          <p:cNvSpPr/>
          <p:nvPr/>
        </p:nvSpPr>
        <p:spPr>
          <a:xfrm>
            <a:off x="6393960" y="3894840"/>
            <a:ext cx="52351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7DD3FC"/>
                </a:solidFill>
                <a:effectLst/>
                <a:uFillTx/>
                <a:latin typeface="Consolas"/>
                <a:ea typeface="Consolas"/>
              </a:rPr>
              <a:t>    --cert=tls.crt --key=tls.key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9"/>
          <p:cNvSpPr/>
          <p:nvPr/>
        </p:nvSpPr>
        <p:spPr>
          <a:xfrm>
            <a:off x="6393960" y="4168800"/>
            <a:ext cx="52351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30"/>
          <p:cNvSpPr/>
          <p:nvPr/>
        </p:nvSpPr>
        <p:spPr>
          <a:xfrm>
            <a:off x="6393960" y="4442760"/>
            <a:ext cx="52351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# 3. Create edge route with TLS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31"/>
          <p:cNvSpPr/>
          <p:nvPr/>
        </p:nvSpPr>
        <p:spPr>
          <a:xfrm>
            <a:off x="6393960" y="4717080"/>
            <a:ext cx="52351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7DD3FC"/>
                </a:solidFill>
                <a:effectLst/>
                <a:uFillTx/>
                <a:latin typeface="Consolas"/>
                <a:ea typeface="Consolas"/>
              </a:rPr>
              <a:t>$ oc create route edge my-secure-route \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32"/>
          <p:cNvSpPr/>
          <p:nvPr/>
        </p:nvSpPr>
        <p:spPr>
          <a:xfrm>
            <a:off x="6393960" y="4991040"/>
            <a:ext cx="52351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7DD3FC"/>
                </a:solidFill>
                <a:effectLst/>
                <a:uFillTx/>
                <a:latin typeface="Consolas"/>
                <a:ea typeface="Consolas"/>
              </a:rPr>
              <a:t>    --service=my-app \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33"/>
          <p:cNvSpPr/>
          <p:nvPr/>
        </p:nvSpPr>
        <p:spPr>
          <a:xfrm>
            <a:off x="6393960" y="5265000"/>
            <a:ext cx="52351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7DD3FC"/>
                </a:solidFill>
                <a:effectLst/>
                <a:uFillTx/>
                <a:latin typeface="Consolas"/>
                <a:ea typeface="Consolas"/>
              </a:rPr>
              <a:t>    --cert=tls.crt --key=tls.key \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34"/>
          <p:cNvSpPr/>
          <p:nvPr/>
        </p:nvSpPr>
        <p:spPr>
          <a:xfrm>
            <a:off x="6393960" y="5538960"/>
            <a:ext cx="52351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7DD3FC"/>
                </a:solidFill>
                <a:effectLst/>
                <a:uFillTx/>
                <a:latin typeface="Consolas"/>
                <a:ea typeface="Consolas"/>
              </a:rPr>
              <a:t>    --hostname=secure.apps.example.com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35"/>
          <p:cNvSpPr/>
          <p:nvPr/>
        </p:nvSpPr>
        <p:spPr>
          <a:xfrm>
            <a:off x="6393960" y="5812920"/>
            <a:ext cx="52351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36"/>
          <p:cNvSpPr/>
          <p:nvPr/>
        </p:nvSpPr>
        <p:spPr>
          <a:xfrm>
            <a:off x="6393960" y="6087240"/>
            <a:ext cx="52351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# 4. Verify route is secure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37"/>
          <p:cNvSpPr/>
          <p:nvPr/>
        </p:nvSpPr>
        <p:spPr>
          <a:xfrm>
            <a:off x="6393960" y="6361200"/>
            <a:ext cx="52351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7DD3FC"/>
                </a:solidFill>
                <a:effectLst/>
                <a:uFillTx/>
                <a:latin typeface="Consolas"/>
                <a:ea typeface="Consolas"/>
              </a:rPr>
              <a:t>$ oc get route my-secure-route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extBox 2"/>
          <p:cNvSpPr/>
          <p:nvPr/>
        </p:nvSpPr>
        <p:spPr>
          <a:xfrm>
            <a:off x="3045600" y="3246840"/>
            <a:ext cx="608940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6E7687"/>
                </a:solidFill>
                <a:effectLst/>
                <a:uFillTx/>
                <a:latin typeface="Arial"/>
              </a:rPr>
              <a:t># List router pods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oc get pods -n openshift-ingress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oc get svc router-default -n openshift-ingress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7" name="Picture 3"/>
          <p:cNvPicPr/>
          <p:nvPr/>
        </p:nvPicPr>
        <p:blipFill>
          <a:blip r:embed="rId1"/>
          <a:stretch/>
        </p:blipFill>
        <p:spPr>
          <a:xfrm rot="16200000">
            <a:off x="5727240" y="409320"/>
            <a:ext cx="719640" cy="1217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0"/>
          <p:cNvSpPr/>
          <p:nvPr/>
        </p:nvSpPr>
        <p:spPr>
          <a:xfrm>
            <a:off x="0" y="3600"/>
            <a:ext cx="12177360" cy="668160"/>
          </a:xfrm>
          <a:prstGeom prst="rect">
            <a:avLst/>
          </a:prstGeom>
          <a:solidFill>
            <a:schemeClr val="tx2"/>
          </a:solidFill>
          <a:ln w="12700">
            <a:solidFill>
              <a:srgbClr val="E650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279" name="Text 1"/>
          <p:cNvSpPr/>
          <p:nvPr/>
        </p:nvSpPr>
        <p:spPr>
          <a:xfrm>
            <a:off x="304560" y="3600"/>
            <a:ext cx="7914600" cy="6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OpenShift Route — Traffic Flow Diagram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"/>
          <p:cNvSpPr/>
          <p:nvPr/>
        </p:nvSpPr>
        <p:spPr>
          <a:xfrm>
            <a:off x="8525520" y="3600"/>
            <a:ext cx="3530160" cy="6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en-US" sz="1870" b="1" u="none" strike="noStrike">
                <a:solidFill>
                  <a:srgbClr val="F0A500"/>
                </a:solidFill>
                <a:effectLst/>
                <a:uFillTx/>
                <a:latin typeface="Calibri"/>
                <a:ea typeface="Calibri"/>
              </a:rPr>
              <a:t>www.mango.com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3"/>
          <p:cNvSpPr/>
          <p:nvPr/>
        </p:nvSpPr>
        <p:spPr>
          <a:xfrm>
            <a:off x="4323600" y="795240"/>
            <a:ext cx="7671240" cy="4260960"/>
          </a:xfrm>
          <a:prstGeom prst="roundRect">
            <a:avLst>
              <a:gd name="adj" fmla="val 3429"/>
            </a:avLst>
          </a:prstGeom>
          <a:solidFill>
            <a:srgbClr val="0D1F2E"/>
          </a:solidFill>
          <a:ln w="25400">
            <a:solidFill>
              <a:srgbClr val="1E3A52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4"/>
          <p:cNvSpPr/>
          <p:nvPr/>
        </p:nvSpPr>
        <p:spPr>
          <a:xfrm>
            <a:off x="4445280" y="856080"/>
            <a:ext cx="74275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330" b="1" u="none" strike="noStrike">
                <a:solidFill>
                  <a:srgbClr val="1C5A8A"/>
                </a:solidFill>
                <a:effectLst/>
                <a:uFillTx/>
                <a:latin typeface="Calibri"/>
                <a:ea typeface="Calibri"/>
              </a:rPr>
              <a:t>OpenShift Cluster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5"/>
          <p:cNvSpPr/>
          <p:nvPr/>
        </p:nvSpPr>
        <p:spPr>
          <a:xfrm>
            <a:off x="121680" y="1099800"/>
            <a:ext cx="1581480" cy="1337760"/>
          </a:xfrm>
          <a:prstGeom prst="rect">
            <a:avLst/>
          </a:prstGeom>
          <a:solidFill>
            <a:srgbClr val="1E2D3E"/>
          </a:solidFill>
          <a:ln w="25400">
            <a:solidFill>
              <a:srgbClr val="8FA3B8"/>
            </a:solidFill>
            <a:round/>
          </a:ln>
          <a:effectLst>
            <a:outerShdw algn="bl" blurRad="763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6"/>
          <p:cNvSpPr/>
          <p:nvPr/>
        </p:nvSpPr>
        <p:spPr>
          <a:xfrm>
            <a:off x="121680" y="1099800"/>
            <a:ext cx="1581480" cy="71280"/>
          </a:xfrm>
          <a:prstGeom prst="rect">
            <a:avLst/>
          </a:prstGeom>
          <a:solidFill>
            <a:srgbClr val="8FA3B8"/>
          </a:solidFill>
          <a:ln w="12700">
            <a:solidFill>
              <a:srgbClr val="8F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7"/>
          <p:cNvSpPr/>
          <p:nvPr/>
        </p:nvSpPr>
        <p:spPr>
          <a:xfrm>
            <a:off x="121680" y="1197000"/>
            <a:ext cx="158148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💻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8"/>
          <p:cNvSpPr/>
          <p:nvPr/>
        </p:nvSpPr>
        <p:spPr>
          <a:xfrm>
            <a:off x="182520" y="1635480"/>
            <a:ext cx="145980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7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Client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9"/>
          <p:cNvSpPr/>
          <p:nvPr/>
        </p:nvSpPr>
        <p:spPr>
          <a:xfrm>
            <a:off x="158400" y="1976760"/>
            <a:ext cx="15084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130" b="0" u="none" strike="noStrike">
                <a:solidFill>
                  <a:srgbClr val="8FA3B8"/>
                </a:solidFill>
                <a:effectLst/>
                <a:uFillTx/>
                <a:latin typeface="Calibri"/>
                <a:ea typeface="Calibri"/>
              </a:rPr>
              <a:t>Browser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0"/>
          <p:cNvSpPr/>
          <p:nvPr/>
        </p:nvSpPr>
        <p:spPr>
          <a:xfrm>
            <a:off x="2374920" y="1099800"/>
            <a:ext cx="1581480" cy="1337760"/>
          </a:xfrm>
          <a:prstGeom prst="rect">
            <a:avLst/>
          </a:prstGeom>
          <a:solidFill>
            <a:srgbClr val="2A1F00"/>
          </a:solidFill>
          <a:ln w="25400">
            <a:solidFill>
              <a:srgbClr val="F0A500"/>
            </a:solidFill>
            <a:round/>
          </a:ln>
          <a:effectLst>
            <a:outerShdw algn="bl" blurRad="763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1"/>
          <p:cNvSpPr/>
          <p:nvPr/>
        </p:nvSpPr>
        <p:spPr>
          <a:xfrm>
            <a:off x="2374920" y="1099800"/>
            <a:ext cx="1581480" cy="712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2"/>
          <p:cNvSpPr/>
          <p:nvPr/>
        </p:nvSpPr>
        <p:spPr>
          <a:xfrm>
            <a:off x="2374920" y="1197000"/>
            <a:ext cx="158148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🌐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3"/>
          <p:cNvSpPr/>
          <p:nvPr/>
        </p:nvSpPr>
        <p:spPr>
          <a:xfrm>
            <a:off x="2435760" y="1635480"/>
            <a:ext cx="145980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7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DNS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4"/>
          <p:cNvSpPr/>
          <p:nvPr/>
        </p:nvSpPr>
        <p:spPr>
          <a:xfrm>
            <a:off x="2411640" y="1976760"/>
            <a:ext cx="15084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130" b="0" u="none" strike="noStrike">
                <a:solidFill>
                  <a:srgbClr val="8FA3B8"/>
                </a:solidFill>
                <a:effectLst/>
                <a:uFillTx/>
                <a:latin typeface="Calibri"/>
                <a:ea typeface="Calibri"/>
              </a:rPr>
              <a:t>CNAME record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15"/>
          <p:cNvSpPr/>
          <p:nvPr/>
        </p:nvSpPr>
        <p:spPr>
          <a:xfrm>
            <a:off x="4567320" y="1099800"/>
            <a:ext cx="1825200" cy="1337760"/>
          </a:xfrm>
          <a:prstGeom prst="rect">
            <a:avLst/>
          </a:prstGeom>
          <a:solidFill>
            <a:srgbClr val="1A0A00"/>
          </a:solidFill>
          <a:ln w="25400">
            <a:solidFill>
              <a:srgbClr val="E6501E"/>
            </a:solidFill>
            <a:round/>
          </a:ln>
          <a:effectLst>
            <a:outerShdw algn="bl" blurRad="763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6"/>
          <p:cNvSpPr/>
          <p:nvPr/>
        </p:nvSpPr>
        <p:spPr>
          <a:xfrm>
            <a:off x="4567320" y="1099800"/>
            <a:ext cx="1825200" cy="71280"/>
          </a:xfrm>
          <a:prstGeom prst="rect">
            <a:avLst/>
          </a:prstGeom>
          <a:solidFill>
            <a:srgbClr val="E6501E"/>
          </a:solidFill>
          <a:ln w="12700">
            <a:solidFill>
              <a:srgbClr val="E650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7"/>
          <p:cNvSpPr/>
          <p:nvPr/>
        </p:nvSpPr>
        <p:spPr>
          <a:xfrm>
            <a:off x="4567320" y="1197000"/>
            <a:ext cx="182520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8"/>
          <p:cNvSpPr/>
          <p:nvPr/>
        </p:nvSpPr>
        <p:spPr>
          <a:xfrm>
            <a:off x="4628160" y="1635480"/>
            <a:ext cx="170316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7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OCP Router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9"/>
          <p:cNvSpPr/>
          <p:nvPr/>
        </p:nvSpPr>
        <p:spPr>
          <a:xfrm>
            <a:off x="4603680" y="1976760"/>
            <a:ext cx="17521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130" b="0" u="none" strike="noStrike">
                <a:solidFill>
                  <a:srgbClr val="8FA3B8"/>
                </a:solidFill>
                <a:effectLst/>
                <a:uFillTx/>
                <a:latin typeface="Calibri"/>
                <a:ea typeface="Calibri"/>
              </a:rPr>
              <a:t>HAProxy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20"/>
          <p:cNvSpPr/>
          <p:nvPr/>
        </p:nvSpPr>
        <p:spPr>
          <a:xfrm>
            <a:off x="6759360" y="1099800"/>
            <a:ext cx="1764360" cy="1337760"/>
          </a:xfrm>
          <a:prstGeom prst="rect">
            <a:avLst/>
          </a:prstGeom>
          <a:solidFill>
            <a:srgbClr val="E6501E"/>
          </a:solidFill>
          <a:ln w="25400">
            <a:solidFill>
              <a:srgbClr val="C03A0A"/>
            </a:solidFill>
            <a:round/>
          </a:ln>
          <a:effectLst>
            <a:outerShdw algn="bl" blurRad="763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21"/>
          <p:cNvSpPr/>
          <p:nvPr/>
        </p:nvSpPr>
        <p:spPr>
          <a:xfrm>
            <a:off x="6759360" y="1099800"/>
            <a:ext cx="1764360" cy="71280"/>
          </a:xfrm>
          <a:prstGeom prst="rect">
            <a:avLst/>
          </a:prstGeom>
          <a:solidFill>
            <a:srgbClr val="C03A0A"/>
          </a:solidFill>
          <a:ln w="12700">
            <a:solidFill>
              <a:srgbClr val="C03A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2"/>
          <p:cNvSpPr/>
          <p:nvPr/>
        </p:nvSpPr>
        <p:spPr>
          <a:xfrm>
            <a:off x="6759360" y="1197000"/>
            <a:ext cx="176436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📋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3"/>
          <p:cNvSpPr/>
          <p:nvPr/>
        </p:nvSpPr>
        <p:spPr>
          <a:xfrm>
            <a:off x="6820560" y="1635480"/>
            <a:ext cx="164232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7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Route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24"/>
          <p:cNvSpPr/>
          <p:nvPr/>
        </p:nvSpPr>
        <p:spPr>
          <a:xfrm>
            <a:off x="6796080" y="1976760"/>
            <a:ext cx="16912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130" b="0" u="none" strike="noStrike">
                <a:solidFill>
                  <a:srgbClr val="8FA3B8"/>
                </a:solidFill>
                <a:effectLst/>
                <a:uFillTx/>
                <a:latin typeface="Calibri"/>
                <a:ea typeface="Calibri"/>
              </a:rPr>
              <a:t>www.mango.com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25"/>
          <p:cNvSpPr/>
          <p:nvPr/>
        </p:nvSpPr>
        <p:spPr>
          <a:xfrm>
            <a:off x="8769240" y="1099800"/>
            <a:ext cx="1825200" cy="1337760"/>
          </a:xfrm>
          <a:prstGeom prst="rect">
            <a:avLst/>
          </a:prstGeom>
          <a:solidFill>
            <a:srgbClr val="1565C0"/>
          </a:solidFill>
          <a:ln w="25400">
            <a:solidFill>
              <a:srgbClr val="0D47A1"/>
            </a:solidFill>
            <a:round/>
          </a:ln>
          <a:effectLst>
            <a:outerShdw algn="bl" blurRad="763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26"/>
          <p:cNvSpPr/>
          <p:nvPr/>
        </p:nvSpPr>
        <p:spPr>
          <a:xfrm>
            <a:off x="8769240" y="1099800"/>
            <a:ext cx="1825200" cy="7128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7"/>
          <p:cNvSpPr/>
          <p:nvPr/>
        </p:nvSpPr>
        <p:spPr>
          <a:xfrm>
            <a:off x="8769240" y="1197000"/>
            <a:ext cx="182520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⚙️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8"/>
          <p:cNvSpPr/>
          <p:nvPr/>
        </p:nvSpPr>
        <p:spPr>
          <a:xfrm>
            <a:off x="8830080" y="1635480"/>
            <a:ext cx="170316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7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Service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9"/>
          <p:cNvSpPr/>
          <p:nvPr/>
        </p:nvSpPr>
        <p:spPr>
          <a:xfrm>
            <a:off x="8805600" y="1976760"/>
            <a:ext cx="17521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130" b="0" u="none" strike="noStrike">
                <a:solidFill>
                  <a:srgbClr val="8FA3B8"/>
                </a:solidFill>
                <a:effectLst/>
                <a:uFillTx/>
                <a:latin typeface="Calibri"/>
                <a:ea typeface="Calibri"/>
              </a:rPr>
              <a:t>mango ClusterIP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30"/>
          <p:cNvSpPr/>
          <p:nvPr/>
        </p:nvSpPr>
        <p:spPr>
          <a:xfrm>
            <a:off x="1869480" y="1319040"/>
            <a:ext cx="339120" cy="3391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31"/>
          <p:cNvSpPr/>
          <p:nvPr/>
        </p:nvSpPr>
        <p:spPr>
          <a:xfrm>
            <a:off x="1869480" y="1319040"/>
            <a:ext cx="33912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A1628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32"/>
          <p:cNvSpPr/>
          <p:nvPr/>
        </p:nvSpPr>
        <p:spPr>
          <a:xfrm>
            <a:off x="1766160" y="1489320"/>
            <a:ext cx="546120" cy="534240"/>
          </a:xfrm>
          <a:prstGeom prst="roundRect">
            <a:avLst>
              <a:gd name="adj" fmla="val 13636"/>
            </a:avLst>
          </a:prstGeom>
          <a:solidFill>
            <a:srgbClr val="0D1F30"/>
          </a:solidFill>
          <a:ln w="127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1" name="Image 0" descr="preencoded.png"/>
          <p:cNvPicPr/>
          <p:nvPr/>
        </p:nvPicPr>
        <p:blipFill>
          <a:blip r:embed="rId1"/>
          <a:stretch/>
        </p:blipFill>
        <p:spPr>
          <a:xfrm>
            <a:off x="1857240" y="1611360"/>
            <a:ext cx="363600" cy="36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Text 33"/>
          <p:cNvSpPr/>
          <p:nvPr/>
        </p:nvSpPr>
        <p:spPr>
          <a:xfrm>
            <a:off x="1714320" y="880560"/>
            <a:ext cx="668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70" b="1" u="none" strike="noStrike">
                <a:solidFill>
                  <a:srgbClr val="F0A500"/>
                </a:solidFill>
                <a:effectLst/>
                <a:uFillTx/>
                <a:latin typeface="Calibri"/>
                <a:ea typeface="Calibri"/>
              </a:rPr>
              <a:t>DNS lookup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34"/>
          <p:cNvSpPr/>
          <p:nvPr/>
        </p:nvSpPr>
        <p:spPr>
          <a:xfrm>
            <a:off x="438840" y="2226600"/>
            <a:ext cx="11790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930" b="0" u="none" strike="noStrike">
                <a:solidFill>
                  <a:srgbClr val="8FA3B8"/>
                </a:solidFill>
                <a:effectLst/>
                <a:uFillTx/>
                <a:latin typeface="Calibri"/>
                <a:ea typeface="Calibri"/>
              </a:rPr>
              <a:t>www.mango.com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35"/>
          <p:cNvSpPr/>
          <p:nvPr/>
        </p:nvSpPr>
        <p:spPr>
          <a:xfrm>
            <a:off x="4092120" y="1319040"/>
            <a:ext cx="339120" cy="339120"/>
          </a:xfrm>
          <a:prstGeom prst="ellipse">
            <a:avLst/>
          </a:prstGeom>
          <a:solidFill>
            <a:srgbClr val="8FA3B8"/>
          </a:solidFill>
          <a:ln w="12700">
            <a:solidFill>
              <a:srgbClr val="8F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36"/>
          <p:cNvSpPr/>
          <p:nvPr/>
        </p:nvSpPr>
        <p:spPr>
          <a:xfrm>
            <a:off x="4092120" y="1319040"/>
            <a:ext cx="33912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A1628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37"/>
          <p:cNvSpPr/>
          <p:nvPr/>
        </p:nvSpPr>
        <p:spPr>
          <a:xfrm>
            <a:off x="4019040" y="1489320"/>
            <a:ext cx="485280" cy="534240"/>
          </a:xfrm>
          <a:prstGeom prst="roundRect">
            <a:avLst>
              <a:gd name="adj" fmla="val 15000"/>
            </a:avLst>
          </a:prstGeom>
          <a:solidFill>
            <a:srgbClr val="0D1F30"/>
          </a:solidFill>
          <a:ln w="12700">
            <a:solidFill>
              <a:srgbClr val="8F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7" name="Image 1" descr="preencoded.png"/>
          <p:cNvPicPr/>
          <p:nvPr/>
        </p:nvPicPr>
        <p:blipFill>
          <a:blip r:embed="rId2"/>
          <a:stretch/>
        </p:blipFill>
        <p:spPr>
          <a:xfrm>
            <a:off x="4080240" y="1611360"/>
            <a:ext cx="363600" cy="36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Text 38"/>
          <p:cNvSpPr/>
          <p:nvPr/>
        </p:nvSpPr>
        <p:spPr>
          <a:xfrm>
            <a:off x="4009320" y="1501560"/>
            <a:ext cx="485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70" b="1" u="none" strike="noStrike">
                <a:solidFill>
                  <a:srgbClr val="8FA3B8"/>
                </a:solidFill>
                <a:effectLst/>
                <a:uFillTx/>
                <a:latin typeface="Calibri"/>
                <a:ea typeface="Calibri"/>
              </a:rPr>
              <a:t>CNAME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39"/>
          <p:cNvSpPr/>
          <p:nvPr/>
        </p:nvSpPr>
        <p:spPr>
          <a:xfrm>
            <a:off x="4029120" y="1887480"/>
            <a:ext cx="4852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930" b="0" u="none" strike="noStrike">
                <a:solidFill>
                  <a:srgbClr val="8FA3B8"/>
                </a:solidFill>
                <a:effectLst/>
                <a:uFillTx/>
                <a:latin typeface="Calibri"/>
                <a:ea typeface="Calibri"/>
              </a:rPr>
              <a:t>resolves →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40"/>
          <p:cNvSpPr/>
          <p:nvPr/>
        </p:nvSpPr>
        <p:spPr>
          <a:xfrm>
            <a:off x="6284520" y="1319040"/>
            <a:ext cx="339120" cy="339120"/>
          </a:xfrm>
          <a:prstGeom prst="ellipse">
            <a:avLst/>
          </a:prstGeom>
          <a:solidFill>
            <a:srgbClr val="E6501E"/>
          </a:solidFill>
          <a:ln w="12700">
            <a:solidFill>
              <a:srgbClr val="E650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41"/>
          <p:cNvSpPr/>
          <p:nvPr/>
        </p:nvSpPr>
        <p:spPr>
          <a:xfrm>
            <a:off x="6284520" y="1319040"/>
            <a:ext cx="33912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A1628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42"/>
          <p:cNvSpPr/>
          <p:nvPr/>
        </p:nvSpPr>
        <p:spPr>
          <a:xfrm>
            <a:off x="6211440" y="1489320"/>
            <a:ext cx="485280" cy="534240"/>
          </a:xfrm>
          <a:prstGeom prst="roundRect">
            <a:avLst>
              <a:gd name="adj" fmla="val 15000"/>
            </a:avLst>
          </a:prstGeom>
          <a:solidFill>
            <a:srgbClr val="0D1F30"/>
          </a:solidFill>
          <a:ln w="12700">
            <a:solidFill>
              <a:srgbClr val="E650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3" name="Image 2" descr="preencoded.png"/>
          <p:cNvPicPr/>
          <p:nvPr/>
        </p:nvPicPr>
        <p:blipFill>
          <a:blip r:embed="rId3"/>
          <a:stretch/>
        </p:blipFill>
        <p:spPr>
          <a:xfrm>
            <a:off x="6262560" y="1552320"/>
            <a:ext cx="363600" cy="36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4" name="Text 43"/>
          <p:cNvSpPr/>
          <p:nvPr/>
        </p:nvSpPr>
        <p:spPr>
          <a:xfrm>
            <a:off x="6201720" y="1452960"/>
            <a:ext cx="485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70" b="1" u="none" strike="noStrike">
                <a:solidFill>
                  <a:srgbClr val="E6501E"/>
                </a:solidFill>
                <a:effectLst/>
                <a:uFillTx/>
                <a:latin typeface="Calibri"/>
                <a:ea typeface="Calibri"/>
              </a:rPr>
              <a:t>Host: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44"/>
          <p:cNvSpPr/>
          <p:nvPr/>
        </p:nvSpPr>
        <p:spPr>
          <a:xfrm>
            <a:off x="6132240" y="1769400"/>
            <a:ext cx="7898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930" b="0" u="none" strike="noStrike">
                <a:solidFill>
                  <a:srgbClr val="8FA3B8"/>
                </a:solidFill>
                <a:effectLst/>
                <a:uFillTx/>
                <a:latin typeface="Calibri"/>
                <a:ea typeface="Calibri"/>
              </a:rPr>
              <a:t>header match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45"/>
          <p:cNvSpPr/>
          <p:nvPr/>
        </p:nvSpPr>
        <p:spPr>
          <a:xfrm>
            <a:off x="8263800" y="1319040"/>
            <a:ext cx="339120" cy="339120"/>
          </a:xfrm>
          <a:prstGeom prst="ellipse">
            <a:avLst/>
          </a:prstGeom>
          <a:solidFill>
            <a:srgbClr val="64B5F6"/>
          </a:solidFill>
          <a:ln w="12700">
            <a:solidFill>
              <a:srgbClr val="64B5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46"/>
          <p:cNvSpPr/>
          <p:nvPr/>
        </p:nvSpPr>
        <p:spPr>
          <a:xfrm>
            <a:off x="8263800" y="1319040"/>
            <a:ext cx="33912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A1628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47"/>
          <p:cNvSpPr/>
          <p:nvPr/>
        </p:nvSpPr>
        <p:spPr>
          <a:xfrm>
            <a:off x="8160120" y="1489320"/>
            <a:ext cx="546120" cy="534240"/>
          </a:xfrm>
          <a:prstGeom prst="roundRect">
            <a:avLst>
              <a:gd name="adj" fmla="val 13636"/>
            </a:avLst>
          </a:prstGeom>
          <a:solidFill>
            <a:srgbClr val="0D1F30"/>
          </a:solidFill>
          <a:ln w="12700">
            <a:solidFill>
              <a:srgbClr val="64B5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9" name="Image 3" descr="preencoded.png"/>
          <p:cNvPicPr/>
          <p:nvPr/>
        </p:nvPicPr>
        <p:blipFill>
          <a:blip r:embed="rId4"/>
          <a:stretch/>
        </p:blipFill>
        <p:spPr>
          <a:xfrm>
            <a:off x="8251560" y="1611360"/>
            <a:ext cx="363600" cy="36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0" name="Text 48"/>
          <p:cNvSpPr/>
          <p:nvPr/>
        </p:nvSpPr>
        <p:spPr>
          <a:xfrm>
            <a:off x="8160120" y="1489320"/>
            <a:ext cx="5461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70" b="1" u="none" strike="noStrike">
                <a:solidFill>
                  <a:srgbClr val="64B5F6"/>
                </a:solidFill>
                <a:effectLst/>
                <a:uFillTx/>
                <a:latin typeface="Calibri"/>
                <a:ea typeface="Calibri"/>
              </a:rPr>
              <a:t>routing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49"/>
          <p:cNvSpPr/>
          <p:nvPr/>
        </p:nvSpPr>
        <p:spPr>
          <a:xfrm>
            <a:off x="8171280" y="1842480"/>
            <a:ext cx="5461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930" b="0" u="none" strike="noStrike">
                <a:solidFill>
                  <a:srgbClr val="8FA3B8"/>
                </a:solidFill>
                <a:effectLst/>
                <a:uFillTx/>
                <a:latin typeface="Calibri"/>
                <a:ea typeface="Calibri"/>
              </a:rPr>
              <a:t>rule →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50"/>
          <p:cNvSpPr/>
          <p:nvPr/>
        </p:nvSpPr>
        <p:spPr>
          <a:xfrm>
            <a:off x="9365760" y="2439360"/>
            <a:ext cx="22680" cy="668160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520" tIns="45000" rIns="115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51"/>
          <p:cNvSpPr/>
          <p:nvPr/>
        </p:nvSpPr>
        <p:spPr>
          <a:xfrm>
            <a:off x="9365760" y="3109320"/>
            <a:ext cx="1703160" cy="22680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0520" rIns="90000" bIns="-205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52"/>
          <p:cNvSpPr/>
          <p:nvPr/>
        </p:nvSpPr>
        <p:spPr>
          <a:xfrm>
            <a:off x="9365760" y="3109320"/>
            <a:ext cx="22680" cy="363600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520" tIns="45000" rIns="115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53"/>
          <p:cNvSpPr/>
          <p:nvPr/>
        </p:nvSpPr>
        <p:spPr>
          <a:xfrm>
            <a:off x="11046600" y="3109320"/>
            <a:ext cx="22680" cy="363600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520" tIns="45000" rIns="115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54"/>
          <p:cNvSpPr/>
          <p:nvPr/>
        </p:nvSpPr>
        <p:spPr>
          <a:xfrm>
            <a:off x="9268560" y="2622240"/>
            <a:ext cx="339120" cy="339120"/>
          </a:xfrm>
          <a:prstGeom prst="ellipse">
            <a:avLst/>
          </a:prstGeom>
          <a:solidFill>
            <a:srgbClr val="90CAF9"/>
          </a:solidFill>
          <a:ln w="12700">
            <a:solidFill>
              <a:srgbClr val="90CA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55"/>
          <p:cNvSpPr/>
          <p:nvPr/>
        </p:nvSpPr>
        <p:spPr>
          <a:xfrm>
            <a:off x="9268560" y="2622240"/>
            <a:ext cx="33912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A1628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56"/>
          <p:cNvSpPr/>
          <p:nvPr/>
        </p:nvSpPr>
        <p:spPr>
          <a:xfrm>
            <a:off x="9012600" y="3474720"/>
            <a:ext cx="1276920" cy="911520"/>
          </a:xfrm>
          <a:prstGeom prst="rect">
            <a:avLst/>
          </a:prstGeom>
          <a:solidFill>
            <a:srgbClr val="0D3A6E"/>
          </a:solidFill>
          <a:ln w="254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57"/>
          <p:cNvSpPr/>
          <p:nvPr/>
        </p:nvSpPr>
        <p:spPr>
          <a:xfrm>
            <a:off x="9012600" y="3499200"/>
            <a:ext cx="12769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🟦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58"/>
          <p:cNvSpPr/>
          <p:nvPr/>
        </p:nvSpPr>
        <p:spPr>
          <a:xfrm>
            <a:off x="9012600" y="3864240"/>
            <a:ext cx="12769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33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Pod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59"/>
          <p:cNvSpPr/>
          <p:nvPr/>
        </p:nvSpPr>
        <p:spPr>
          <a:xfrm>
            <a:off x="9012600" y="4120200"/>
            <a:ext cx="1276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70" b="0" u="none" strike="noStrike">
                <a:solidFill>
                  <a:srgbClr val="8FA3B8"/>
                </a:solidFill>
                <a:effectLst/>
                <a:uFillTx/>
                <a:latin typeface="Calibri"/>
                <a:ea typeface="Calibri"/>
              </a:rPr>
              <a:t>replica 1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60"/>
          <p:cNvSpPr/>
          <p:nvPr/>
        </p:nvSpPr>
        <p:spPr>
          <a:xfrm>
            <a:off x="10693440" y="3474720"/>
            <a:ext cx="1276920" cy="911520"/>
          </a:xfrm>
          <a:prstGeom prst="rect">
            <a:avLst/>
          </a:prstGeom>
          <a:solidFill>
            <a:srgbClr val="0D3A6E"/>
          </a:solidFill>
          <a:ln w="254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61"/>
          <p:cNvSpPr/>
          <p:nvPr/>
        </p:nvSpPr>
        <p:spPr>
          <a:xfrm>
            <a:off x="10693440" y="3499200"/>
            <a:ext cx="12769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🟦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62"/>
          <p:cNvSpPr/>
          <p:nvPr/>
        </p:nvSpPr>
        <p:spPr>
          <a:xfrm>
            <a:off x="10693440" y="3864240"/>
            <a:ext cx="12769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33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Pod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63"/>
          <p:cNvSpPr/>
          <p:nvPr/>
        </p:nvSpPr>
        <p:spPr>
          <a:xfrm>
            <a:off x="10693440" y="4120200"/>
            <a:ext cx="1276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70" b="0" u="none" strike="noStrike">
                <a:solidFill>
                  <a:srgbClr val="8FA3B8"/>
                </a:solidFill>
                <a:effectLst/>
                <a:uFillTx/>
                <a:latin typeface="Calibri"/>
                <a:ea typeface="Calibri"/>
              </a:rPr>
              <a:t>replica 2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64"/>
          <p:cNvSpPr/>
          <p:nvPr/>
        </p:nvSpPr>
        <p:spPr>
          <a:xfrm>
            <a:off x="121680" y="5143320"/>
            <a:ext cx="3773880" cy="1459800"/>
          </a:xfrm>
          <a:prstGeom prst="roundRect">
            <a:avLst>
              <a:gd name="adj" fmla="val 8333"/>
            </a:avLst>
          </a:prstGeom>
          <a:solidFill>
            <a:srgbClr val="150A00"/>
          </a:solidFill>
          <a:ln w="12700">
            <a:solidFill>
              <a:srgbClr val="F0A5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65"/>
          <p:cNvSpPr/>
          <p:nvPr/>
        </p:nvSpPr>
        <p:spPr>
          <a:xfrm>
            <a:off x="219240" y="5179680"/>
            <a:ext cx="353016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0A500"/>
                </a:solidFill>
                <a:effectLst/>
                <a:uFillTx/>
                <a:latin typeface="Calibri"/>
                <a:ea typeface="Calibri"/>
              </a:rPr>
              <a:t>🖥️  CRC (Local Dev — Windows)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66"/>
          <p:cNvSpPr/>
          <p:nvPr/>
        </p:nvSpPr>
        <p:spPr>
          <a:xfrm>
            <a:off x="219240" y="5484240"/>
            <a:ext cx="35301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070" b="0" u="none" strike="noStrike">
                <a:solidFill>
                  <a:srgbClr val="8FA3B8"/>
                </a:solidFill>
                <a:effectLst/>
                <a:uFillTx/>
                <a:latin typeface="Calibri"/>
                <a:ea typeface="Calibri"/>
              </a:rPr>
              <a:t>Add to hosts file: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67"/>
          <p:cNvSpPr/>
          <p:nvPr/>
        </p:nvSpPr>
        <p:spPr>
          <a:xfrm>
            <a:off x="219240" y="5703480"/>
            <a:ext cx="3530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8FA3B8"/>
                </a:solidFill>
                <a:effectLst/>
                <a:uFillTx/>
                <a:latin typeface="Courier New"/>
                <a:ea typeface="Courier New"/>
              </a:rPr>
              <a:t>C:\Windows\System32\drivers\etc\hosts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68"/>
          <p:cNvSpPr/>
          <p:nvPr/>
        </p:nvSpPr>
        <p:spPr>
          <a:xfrm>
            <a:off x="219240" y="5922720"/>
            <a:ext cx="35301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0A500"/>
                </a:solidFill>
                <a:effectLst/>
                <a:uFillTx/>
                <a:latin typeface="Courier New"/>
                <a:ea typeface="Courier New"/>
              </a:rPr>
              <a:t>127.0.0.1   www.mango.com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69"/>
          <p:cNvSpPr/>
          <p:nvPr/>
        </p:nvSpPr>
        <p:spPr>
          <a:xfrm>
            <a:off x="219240" y="6166440"/>
            <a:ext cx="3530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070" b="0" u="none" strike="noStrike">
                <a:solidFill>
                  <a:srgbClr val="8FA3B8"/>
                </a:solidFill>
                <a:effectLst/>
                <a:uFillTx/>
                <a:latin typeface="Courier New"/>
                <a:ea typeface="Courier New"/>
              </a:rPr>
              <a:t>Then: ipconfig /flushdns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70"/>
          <p:cNvSpPr/>
          <p:nvPr/>
        </p:nvSpPr>
        <p:spPr>
          <a:xfrm>
            <a:off x="219240" y="6385680"/>
            <a:ext cx="3530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930" b="0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ROSA/ARO: Use CNAME record → router-default.apps.&lt;cluster&gt;.openshiftapps.com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71"/>
          <p:cNvSpPr/>
          <p:nvPr/>
        </p:nvSpPr>
        <p:spPr>
          <a:xfrm>
            <a:off x="4080240" y="5143320"/>
            <a:ext cx="4017240" cy="1459800"/>
          </a:xfrm>
          <a:prstGeom prst="roundRect">
            <a:avLst>
              <a:gd name="adj" fmla="val 8333"/>
            </a:avLst>
          </a:prstGeom>
          <a:solidFill>
            <a:srgbClr val="0D1F0D"/>
          </a:solidFill>
          <a:ln w="12700">
            <a:solidFill>
              <a:srgbClr val="2E7D3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72"/>
          <p:cNvSpPr/>
          <p:nvPr/>
        </p:nvSpPr>
        <p:spPr>
          <a:xfrm>
            <a:off x="4177440" y="5179680"/>
            <a:ext cx="377388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66BB6A"/>
                </a:solidFill>
                <a:effectLst/>
                <a:uFillTx/>
                <a:latin typeface="Calibri"/>
                <a:ea typeface="Calibri"/>
              </a:rPr>
              <a:t>📄  Route YAML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73"/>
          <p:cNvSpPr/>
          <p:nvPr/>
        </p:nvSpPr>
        <p:spPr>
          <a:xfrm>
            <a:off x="4177440" y="5508720"/>
            <a:ext cx="3773880" cy="10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8FA3B8"/>
                </a:solidFill>
                <a:effectLst/>
                <a:uFillTx/>
                <a:latin typeface="Courier New"/>
                <a:ea typeface="Courier New"/>
              </a:rPr>
              <a:t>kind: </a:t>
            </a:r>
            <a:r>
              <a:rPr lang="en-US" sz="1260" b="1" u="none" strike="noStrike">
                <a:solidFill>
                  <a:srgbClr val="66BB6A"/>
                </a:solidFill>
                <a:effectLst/>
                <a:uFillTx/>
                <a:latin typeface="Courier New"/>
                <a:ea typeface="Courier New"/>
              </a:rPr>
              <a:t>Route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8FA3B8"/>
                </a:solidFill>
                <a:effectLst/>
                <a:uFillTx/>
                <a:latin typeface="Courier New"/>
                <a:ea typeface="Courier New"/>
              </a:rPr>
              <a:t>host: </a:t>
            </a:r>
            <a:r>
              <a:rPr lang="en-US" sz="1260" b="1" u="none" strike="noStrike">
                <a:solidFill>
                  <a:srgbClr val="F0A500"/>
                </a:solidFill>
                <a:effectLst/>
                <a:uFillTx/>
                <a:latin typeface="Courier New"/>
                <a:ea typeface="Courier New"/>
              </a:rPr>
              <a:t>www.mango.com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8FA3B8"/>
                </a:solidFill>
                <a:effectLst/>
                <a:uFillTx/>
                <a:latin typeface="Courier New"/>
                <a:ea typeface="Courier New"/>
              </a:rPr>
              <a:t>to.name: </a:t>
            </a:r>
            <a:r>
              <a:rPr lang="en-US" sz="1260" b="1" u="none" strike="noStrike">
                <a:solidFill>
                  <a:srgbClr val="64B5F6"/>
                </a:solidFill>
                <a:effectLst/>
                <a:uFillTx/>
                <a:latin typeface="Courier New"/>
                <a:ea typeface="Courier New"/>
              </a:rPr>
              <a:t>mango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8FA3B8"/>
                </a:solidFill>
                <a:effectLst/>
                <a:uFillTx/>
                <a:latin typeface="Courier New"/>
                <a:ea typeface="Courier New"/>
              </a:rPr>
              <a:t>port: </a:t>
            </a:r>
            <a:r>
              <a:rPr lang="en-US" sz="1260" b="1" u="none" strike="noStrike">
                <a:solidFill>
                  <a:srgbClr val="90CAF9"/>
                </a:solidFill>
                <a:effectLst/>
                <a:uFillTx/>
                <a:latin typeface="Courier New"/>
                <a:ea typeface="Courier New"/>
              </a:rPr>
              <a:t>80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8FA3B8"/>
                </a:solidFill>
                <a:effectLst/>
                <a:uFillTx/>
                <a:latin typeface="Courier New"/>
                <a:ea typeface="Courier New"/>
              </a:rPr>
              <a:t>tls: </a:t>
            </a:r>
            <a:r>
              <a:rPr lang="en-US" sz="1260" b="1" u="none" strike="noStrike">
                <a:solidFill>
                  <a:srgbClr val="A5D6A7"/>
                </a:solidFill>
                <a:effectLst/>
                <a:uFillTx/>
                <a:latin typeface="Courier New"/>
                <a:ea typeface="Courier New"/>
              </a:rPr>
              <a:t>edge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74"/>
          <p:cNvSpPr/>
          <p:nvPr/>
        </p:nvSpPr>
        <p:spPr>
          <a:xfrm>
            <a:off x="8257680" y="5143320"/>
            <a:ext cx="3773880" cy="1459800"/>
          </a:xfrm>
          <a:prstGeom prst="roundRect">
            <a:avLst>
              <a:gd name="adj" fmla="val 8333"/>
            </a:avLst>
          </a:prstGeom>
          <a:solidFill>
            <a:srgbClr val="0D1A2E"/>
          </a:solidFill>
          <a:ln w="12700">
            <a:solidFill>
              <a:srgbClr val="02809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75"/>
          <p:cNvSpPr/>
          <p:nvPr/>
        </p:nvSpPr>
        <p:spPr>
          <a:xfrm>
            <a:off x="8354880" y="5179680"/>
            <a:ext cx="353016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⚡  Route vs Nginx Ingress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76"/>
          <p:cNvSpPr/>
          <p:nvPr/>
        </p:nvSpPr>
        <p:spPr>
          <a:xfrm>
            <a:off x="8354880" y="5508720"/>
            <a:ext cx="3530160" cy="10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E6501E"/>
                </a:solidFill>
                <a:effectLst/>
                <a:uFillTx/>
                <a:latin typeface="Calibri"/>
                <a:ea typeface="Calibri"/>
              </a:rPr>
              <a:t>Route:  </a:t>
            </a:r>
            <a:r>
              <a:rPr lang="en-US" sz="1200" b="0" u="none" strike="noStrike">
                <a:solidFill>
                  <a:srgbClr val="8FA3B8"/>
                </a:solidFill>
                <a:effectLst/>
                <a:uFillTx/>
                <a:latin typeface="Calibri"/>
                <a:ea typeface="Calibri"/>
              </a:rPr>
              <a:t>HAProxy built-in, zero install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8FA3B8"/>
                </a:solidFill>
                <a:effectLst/>
                <a:uFillTx/>
                <a:latin typeface="Calibri"/>
                <a:ea typeface="Calibri"/>
              </a:rPr>
              <a:t>         CNAME → router hostname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66BB6A"/>
                </a:solidFill>
                <a:effectLst/>
                <a:uFillTx/>
                <a:latin typeface="Calibri"/>
                <a:ea typeface="Calibri"/>
              </a:rPr>
              <a:t>Nginx:  </a:t>
            </a:r>
            <a:r>
              <a:rPr lang="en-US" sz="1200" b="0" u="none" strike="noStrike">
                <a:solidFill>
                  <a:srgbClr val="8FA3B8"/>
                </a:solidFill>
                <a:effectLst/>
                <a:uFillTx/>
                <a:latin typeface="Calibri"/>
                <a:ea typeface="Calibri"/>
              </a:rPr>
              <a:t>separate controller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8FA3B8"/>
                </a:solidFill>
                <a:effectLst/>
                <a:uFillTx/>
                <a:latin typeface="Calibri"/>
                <a:ea typeface="Calibri"/>
              </a:rPr>
              <a:t>         A Record → LB IP (simpler DNS)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82"/>
          <p:cNvSpPr/>
          <p:nvPr/>
        </p:nvSpPr>
        <p:spPr>
          <a:xfrm>
            <a:off x="200880" y="3353040"/>
            <a:ext cx="412092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chemeClr val="dk2">
                    <a:lumMod val="75000"/>
                  </a:schemeClr>
                </a:solidFill>
                <a:effectLst/>
                <a:uFillTx/>
                <a:latin typeface="Arial"/>
              </a:rPr>
              <a:t>Domain Based Traffic Routing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 oc create ingress myapp --rule www.mango.com/*=myapp:80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hape 0"/>
          <p:cNvSpPr/>
          <p:nvPr/>
        </p:nvSpPr>
        <p:spPr>
          <a:xfrm>
            <a:off x="0" y="3600"/>
            <a:ext cx="12177360" cy="850680"/>
          </a:xfrm>
          <a:prstGeom prst="rect">
            <a:avLst/>
          </a:prstGeom>
          <a:solidFill>
            <a:srgbClr val="065A82"/>
          </a:solidFill>
          <a:ln w="12700">
            <a:solidFill>
              <a:srgbClr val="1F49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"/>
          <p:cNvSpPr/>
          <p:nvPr/>
        </p:nvSpPr>
        <p:spPr>
          <a:xfrm>
            <a:off x="487080" y="3600"/>
            <a:ext cx="1095948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93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DNS Setup Comparison</a:t>
            </a:r>
            <a:endParaRPr lang="en-US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2"/>
          <p:cNvSpPr/>
          <p:nvPr/>
        </p:nvSpPr>
        <p:spPr>
          <a:xfrm>
            <a:off x="365400" y="1038960"/>
            <a:ext cx="5296320" cy="5478840"/>
          </a:xfrm>
          <a:prstGeom prst="rect">
            <a:avLst/>
          </a:prstGeom>
          <a:solidFill>
            <a:srgbClr val="0D2137"/>
          </a:solidFill>
          <a:ln w="25400">
            <a:solidFill>
              <a:srgbClr val="E05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3"/>
          <p:cNvSpPr/>
          <p:nvPr/>
        </p:nvSpPr>
        <p:spPr>
          <a:xfrm>
            <a:off x="487080" y="1160640"/>
            <a:ext cx="505260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870" b="1" u="none" strike="noStrike">
                <a:solidFill>
                  <a:srgbClr val="E05A2B"/>
                </a:solidFill>
                <a:effectLst/>
                <a:uFillTx/>
                <a:latin typeface="Calibri"/>
                <a:ea typeface="Calibri"/>
              </a:rPr>
              <a:t>OpenShift Route — CNAME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4"/>
          <p:cNvSpPr/>
          <p:nvPr/>
        </p:nvSpPr>
        <p:spPr>
          <a:xfrm>
            <a:off x="487080" y="1769400"/>
            <a:ext cx="4991760" cy="45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53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mango.com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3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↓ CNAME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3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apps.cluster-xyz.openshiftapps.com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3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↓ Router reads Host: header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3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→ mango Service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3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apple.com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3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↓ CNAME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3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apps.cluster-xyz.openshiftapps.com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3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↓ Router reads Host: header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3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→ apple Service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5"/>
          <p:cNvSpPr/>
          <p:nvPr/>
        </p:nvSpPr>
        <p:spPr>
          <a:xfrm>
            <a:off x="6516000" y="1038960"/>
            <a:ext cx="5296320" cy="5478840"/>
          </a:xfrm>
          <a:prstGeom prst="rect">
            <a:avLst/>
          </a:prstGeom>
          <a:solidFill>
            <a:srgbClr val="0D2137"/>
          </a:solidFill>
          <a:ln w="25400">
            <a:solidFill>
              <a:srgbClr val="00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6"/>
          <p:cNvSpPr/>
          <p:nvPr/>
        </p:nvSpPr>
        <p:spPr>
          <a:xfrm>
            <a:off x="6637680" y="1160640"/>
            <a:ext cx="499176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870" b="1" u="none" strike="noStrike">
                <a:solidFill>
                  <a:srgbClr val="009900"/>
                </a:solidFill>
                <a:effectLst/>
                <a:uFillTx/>
                <a:latin typeface="Calibri"/>
                <a:ea typeface="Calibri"/>
              </a:rPr>
              <a:t>Nginx Ingress — A Record ✅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7"/>
          <p:cNvSpPr/>
          <p:nvPr/>
        </p:nvSpPr>
        <p:spPr>
          <a:xfrm>
            <a:off x="6637680" y="1769400"/>
            <a:ext cx="4991760" cy="45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53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mango.com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3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↓ A Record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3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203.0.113.10  (LB IP — stable)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3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↓ Nginx reads Host: header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3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→ mango Service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3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apple.com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3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↓ A Record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3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203.0.113.10  (same LB IP)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3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↓ Nginx reads Host: header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3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→ apple Service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8"/>
          <p:cNvSpPr/>
          <p:nvPr/>
        </p:nvSpPr>
        <p:spPr>
          <a:xfrm>
            <a:off x="5541480" y="3048480"/>
            <a:ext cx="1094400" cy="753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9"/>
          <p:cNvSpPr/>
          <p:nvPr/>
        </p:nvSpPr>
        <p:spPr>
          <a:xfrm>
            <a:off x="5541480" y="3048480"/>
            <a:ext cx="1094400" cy="75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0A1628"/>
                </a:solidFill>
                <a:effectLst/>
                <a:uFillTx/>
                <a:latin typeface="Calibri"/>
                <a:ea typeface="Calibri"/>
              </a:rPr>
              <a:t>VS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0"/>
          <p:cNvSpPr/>
          <p:nvPr/>
        </p:nvSpPr>
        <p:spPr>
          <a:xfrm>
            <a:off x="0" y="3600"/>
            <a:ext cx="12177360" cy="850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"/>
          <p:cNvSpPr/>
          <p:nvPr/>
        </p:nvSpPr>
        <p:spPr>
          <a:xfrm>
            <a:off x="487080" y="3600"/>
            <a:ext cx="1095948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93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YAML Configuration Side-by-Side</a:t>
            </a:r>
            <a:endParaRPr lang="en-US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2"/>
          <p:cNvSpPr/>
          <p:nvPr/>
        </p:nvSpPr>
        <p:spPr>
          <a:xfrm>
            <a:off x="243720" y="977760"/>
            <a:ext cx="5478840" cy="5600520"/>
          </a:xfrm>
          <a:prstGeom prst="rect">
            <a:avLst/>
          </a:prstGeom>
          <a:solidFill>
            <a:srgbClr val="0D2137"/>
          </a:solidFill>
          <a:ln w="25400">
            <a:solidFill>
              <a:srgbClr val="E05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3"/>
          <p:cNvSpPr/>
          <p:nvPr/>
        </p:nvSpPr>
        <p:spPr>
          <a:xfrm>
            <a:off x="365400" y="1075320"/>
            <a:ext cx="523512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E05A2B"/>
                </a:solidFill>
                <a:effectLst/>
                <a:uFillTx/>
                <a:latin typeface="Calibri"/>
                <a:ea typeface="Calibri"/>
              </a:rPr>
              <a:t>OpenShift Route  (×2 files needed)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4"/>
          <p:cNvSpPr/>
          <p:nvPr/>
        </p:nvSpPr>
        <p:spPr>
          <a:xfrm>
            <a:off x="340920" y="1586880"/>
            <a:ext cx="5235120" cy="48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# mango-route.yaml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kind: Route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metadata: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name: mango-route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spec: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host: mango.com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to: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kind: Service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name: mango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port: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targetPort: 8080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tls: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termination: edge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---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# apple-route.yaml (separate file)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kind: Route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metadata: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name: apple-route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spec: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host: apple.com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to: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kind: Service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name: apple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port: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targetPort: 8080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tls: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termination: edge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5"/>
          <p:cNvSpPr/>
          <p:nvPr/>
        </p:nvSpPr>
        <p:spPr>
          <a:xfrm>
            <a:off x="6455160" y="977760"/>
            <a:ext cx="5478840" cy="5600520"/>
          </a:xfrm>
          <a:prstGeom prst="rect">
            <a:avLst/>
          </a:prstGeom>
          <a:solidFill>
            <a:srgbClr val="0D2137"/>
          </a:solidFill>
          <a:ln w="25400">
            <a:solidFill>
              <a:srgbClr val="00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6"/>
          <p:cNvSpPr/>
          <p:nvPr/>
        </p:nvSpPr>
        <p:spPr>
          <a:xfrm>
            <a:off x="6576840" y="1075320"/>
            <a:ext cx="523512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9900"/>
                </a:solidFill>
                <a:effectLst/>
                <a:uFillTx/>
                <a:latin typeface="Calibri"/>
                <a:ea typeface="Calibri"/>
              </a:rPr>
              <a:t>Nginx Ingress  (single file ✅)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7"/>
          <p:cNvSpPr/>
          <p:nvPr/>
        </p:nvSpPr>
        <p:spPr>
          <a:xfrm>
            <a:off x="6552360" y="1586880"/>
            <a:ext cx="5235120" cy="48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# apps-ingress.yaml (ONE file!)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apiVersion: networking.k8s.io/v1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kind: Ingress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metadata: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name: apps-ingress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annotations: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nginx.ingress.kubernetes.io/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  ssl-redirect: "true"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spec: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ingressClassName: nginx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rules: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- host: mango.com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http: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  paths: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  - path: /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    pathType: Prefix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    backend: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      service: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        name: mango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        port: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          number: 8080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- host: apple.com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http: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  paths: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  - path: /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    pathType: Prefix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    backend: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      service: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        name: apple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        port: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6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              number: 8080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8"/>
          <p:cNvSpPr/>
          <p:nvPr/>
        </p:nvSpPr>
        <p:spPr>
          <a:xfrm>
            <a:off x="5541480" y="3535560"/>
            <a:ext cx="1094400" cy="753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9"/>
          <p:cNvSpPr/>
          <p:nvPr/>
        </p:nvSpPr>
        <p:spPr>
          <a:xfrm>
            <a:off x="5541480" y="3535560"/>
            <a:ext cx="1094400" cy="75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0A1628"/>
                </a:solidFill>
                <a:effectLst/>
                <a:uFillTx/>
                <a:latin typeface="Calibri"/>
                <a:ea typeface="Calibri"/>
              </a:rPr>
              <a:t>VS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Picture 14"/>
          <p:cNvPicPr/>
          <p:nvPr/>
        </p:nvPicPr>
        <p:blipFill>
          <a:blip r:embed="rId1"/>
          <a:stretch/>
        </p:blipFill>
        <p:spPr>
          <a:xfrm>
            <a:off x="18360" y="-12240"/>
            <a:ext cx="12159360" cy="686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PlaceHolder 1"/>
          <p:cNvSpPr>
            <a:spLocks noGrp="1"/>
          </p:cNvSpPr>
          <p:nvPr>
            <p:ph type="sldNum" idx="37"/>
          </p:nvPr>
        </p:nvSpPr>
        <p:spPr>
          <a:xfrm>
            <a:off x="11634120" y="6487560"/>
            <a:ext cx="295560" cy="22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38160" indent="0" algn="l">
              <a:lnSpc>
                <a:spcPts val="1644"/>
              </a:lnSpc>
              <a:buNone/>
              <a:tabLst>
                <a:tab pos="0" algn="l"/>
              </a:tabLst>
              <a:defRPr lang="en-US" sz="1400" b="0" u="none" spc="-26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38160" indent="0" algn="l">
              <a:lnSpc>
                <a:spcPts val="1644"/>
              </a:lnSpc>
              <a:buNone/>
              <a:tabLst>
                <a:tab pos="0" algn="l"/>
              </a:tabLst>
            </a:pPr>
            <a:r>
              <a:rPr lang="en-US" sz="14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PlaceHolder 2"/>
          <p:cNvSpPr>
            <a:spLocks noGrp="1"/>
          </p:cNvSpPr>
          <p:nvPr>
            <p:ph type="title"/>
          </p:nvPr>
        </p:nvSpPr>
        <p:spPr>
          <a:xfrm>
            <a:off x="2355840" y="3124080"/>
            <a:ext cx="3051000" cy="13683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738360" indent="-72648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4400" b="1" u="none" spc="-221" strike="noStrike">
                <a:solidFill>
                  <a:srgbClr val="FFFFFF"/>
                </a:solidFill>
                <a:effectLst/>
                <a:uFillTx/>
                <a:latin typeface="Verdana"/>
              </a:rPr>
              <a:t>Thank</a:t>
            </a:r>
            <a:r>
              <a:rPr lang="en-US" sz="4400" b="1" u="none" spc="-255" strike="noStrike">
                <a:solidFill>
                  <a:srgbClr val="FFFFFF"/>
                </a:solidFill>
                <a:effectLst/>
                <a:uFillTx/>
                <a:latin typeface="Verdana"/>
              </a:rPr>
              <a:t> </a:t>
            </a:r>
            <a:r>
              <a:rPr lang="en-US" sz="4400" b="1" u="none" spc="-354" strike="noStrike">
                <a:solidFill>
                  <a:srgbClr val="FFFFFF"/>
                </a:solidFill>
                <a:effectLst/>
                <a:uFillTx/>
                <a:latin typeface="Verdana"/>
              </a:rPr>
              <a:t>You Q&amp;A?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913</TotalTime>
  <Application>LibreOffice/26.2.5.2$Linux_X86_64 LibreOffice_project/620$Build-2</Application>
  <AppVersion>15.0000</AppVersion>
  <Words>1775</Words>
  <Paragraphs>371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2026-04-15T11:20:32Z</dcterms:created>
  <dc:creator/>
  <dc:description/>
  <dc:language>en-US</dc:language>
  <cp:lastModifiedBy/>
  <dcterms:modified xsi:type="dcterms:W3CDTF">2026-09-09T11:33:27Z</dcterms:modified>
  <cp:revision>63</cp:revision>
  <dc:subject/>
  <dc:title>DevConf 2023: OVN-Kubernetes: The new default CNI of OpenShift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2026-04-15T00:00:00Z</vt:filetime>
  </property>
  <property fmtid="{D5CDD505-2E9C-101B-9397-08002B2CF9AE}" pid="4" name="Creator">
    <vt:lpwstr>Google</vt:lpwstr>
  </property>
  <property fmtid="{D5CDD505-2E9C-101B-9397-08002B2CF9AE}" pid="5" name="LastSaved">
    <vt:filetime>2026-04-15T00:00:00Z</vt:filetime>
  </property>
  <property fmtid="{D5CDD505-2E9C-101B-9397-08002B2CF9AE}" pid="6" name="Notes">
    <vt:i4>5</vt:i4>
  </property>
  <property fmtid="{D5CDD505-2E9C-101B-9397-08002B2CF9AE}" pid="7" name="PresentationFormat">
    <vt:lpwstr>Custom</vt:lpwstr>
  </property>
  <property fmtid="{D5CDD505-2E9C-101B-9397-08002B2CF9AE}" pid="8" name="Slides">
    <vt:i4>24</vt:i4>
  </property>
</Properties>
</file>